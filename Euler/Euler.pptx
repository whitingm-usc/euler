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5"/>
  </p:notesMasterIdLst>
  <p:sldIdLst>
    <p:sldId id="260" r:id="rId2"/>
    <p:sldId id="261" r:id="rId3"/>
    <p:sldId id="258" r:id="rId4"/>
    <p:sldId id="259" r:id="rId5"/>
    <p:sldId id="262" r:id="rId6"/>
    <p:sldId id="263" r:id="rId7"/>
    <p:sldId id="265" r:id="rId8"/>
    <p:sldId id="266" r:id="rId9"/>
    <p:sldId id="267" r:id="rId10"/>
    <p:sldId id="270" r:id="rId11"/>
    <p:sldId id="269" r:id="rId12"/>
    <p:sldId id="271" r:id="rId13"/>
    <p:sldId id="272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270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07E4D4-F8F8-476B-81B5-17DA280C7B0E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13FF40-78BC-44EE-ABF1-49D2518F58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947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13FF40-78BC-44EE-ABF1-49D2518F58D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7332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06B60-ED68-BEA8-FAEB-7D1DC473D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180B5D-DA3F-8AF1-2958-5FB2B53C4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836BF1-493F-BC43-17D6-D407AAAFA7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032070-45B5-C4D3-6571-0023BD5F46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13FF40-78BC-44EE-ABF1-49D2518F58D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3366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9B37F-4073-E91B-F24E-AE65AF499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38B547-8C74-57CB-E93D-F4A57062ED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E9CFC1-B98E-4B2F-C344-4BF34A0A7E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A45F9-DAB7-4821-652C-17F0E4A981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13FF40-78BC-44EE-ABF1-49D2518F58D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0227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532EF-6B1B-CA3A-2853-6112A0ED7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B7DC7E-FFE7-CFA1-2068-82B1FFF244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D769AA-1AEB-1726-FD08-DC2BD34B95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8FB135-D591-1C33-56CB-BA4EB580ED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13FF40-78BC-44EE-ABF1-49D2518F58D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2099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DA1C4-855E-9BF8-F158-49E90CF95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A1EB42-7D33-09CF-5020-A63AA8EB82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3EC5D1-285F-0C09-51A7-7995804102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C470-7D4D-4A18-5D05-D03310E1D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13FF40-78BC-44EE-ABF1-49D2518F58D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0993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C2654-A975-03B1-1485-6B288D545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812238-9DA2-D816-491C-CD4F853FE1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C27984-51D9-E81B-3768-89BDF6F63C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A47926-372C-7AA9-556B-877C50EFB5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13FF40-78BC-44EE-ABF1-49D2518F58D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3230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E20EC-D5D3-F148-3B89-401E5B41A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2E1AFA-2023-5FDC-1656-5BB60F9701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72892E-2709-C941-D836-436117F117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AE9CA4-6268-EED0-6655-5F82E9638C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13FF40-78BC-44EE-ABF1-49D2518F58D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913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4585B-FE05-77A5-117E-CA31F06F1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679C43-3953-B446-D8F3-EBE2416C5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931E35-C0FB-2A8C-4C46-65B876AF8B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060034-57FC-00F3-D2CC-7300BDEFF6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13FF40-78BC-44EE-ABF1-49D2518F58D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128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9F22C-5A43-59A8-07BF-1D48943C3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C8BCA2-73AE-493D-7E06-6F275E2E4B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D47139-4C00-03D0-E8C3-F88D1A9CD5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FE3BF8-7404-DAF8-1E53-EFC2315B8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13FF40-78BC-44EE-ABF1-49D2518F58D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843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5192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909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367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80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297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054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172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050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870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9505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07B2D-9D38-4DD2-AA55-35A51E62F20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37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707B2D-9D38-4DD2-AA55-35A51E62F20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F4AD87-3BCA-47A4-A0CA-E6A8DB684F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358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6.png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image" Target="../media/image15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17.svg"/><Relationship Id="rId4" Type="http://schemas.openxmlformats.org/officeDocument/2006/relationships/image" Target="../media/image15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5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3" Type="http://schemas.openxmlformats.org/officeDocument/2006/relationships/image" Target="../media/image21.sv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4.png"/><Relationship Id="rId10" Type="http://schemas.openxmlformats.org/officeDocument/2006/relationships/image" Target="../media/image31.png"/><Relationship Id="rId4" Type="http://schemas.openxmlformats.org/officeDocument/2006/relationships/image" Target="../media/image23.png"/><Relationship Id="rId9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1.sv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6.png"/><Relationship Id="rId5" Type="http://schemas.openxmlformats.org/officeDocument/2006/relationships/image" Target="../media/image24.png"/><Relationship Id="rId10" Type="http://schemas.openxmlformats.org/officeDocument/2006/relationships/image" Target="../media/image35.png"/><Relationship Id="rId4" Type="http://schemas.openxmlformats.org/officeDocument/2006/relationships/image" Target="../media/image23.png"/><Relationship Id="rId9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8.png"/><Relationship Id="rId3" Type="http://schemas.openxmlformats.org/officeDocument/2006/relationships/image" Target="../media/image21.sv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31.png"/><Relationship Id="rId5" Type="http://schemas.openxmlformats.org/officeDocument/2006/relationships/image" Target="../media/image23.png"/><Relationship Id="rId10" Type="http://schemas.openxmlformats.org/officeDocument/2006/relationships/image" Target="../media/image30.png"/><Relationship Id="rId4" Type="http://schemas.openxmlformats.org/officeDocument/2006/relationships/image" Target="../media/image37.png"/><Relationship Id="rId9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3F631-0DEB-C089-3FA9-9744804F6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5962784" cy="1807305"/>
          </a:xfrm>
        </p:spPr>
        <p:txBody>
          <a:bodyPr>
            <a:normAutofit/>
          </a:bodyPr>
          <a:lstStyle/>
          <a:p>
            <a:r>
              <a:rPr lang="en-US" sz="4100" dirty="0"/>
              <a:t>In Defense of Euler Angles</a:t>
            </a:r>
            <a:br>
              <a:rPr lang="en-US" sz="4100" dirty="0"/>
            </a:br>
            <a:r>
              <a:rPr lang="en-US" sz="4100" dirty="0"/>
              <a:t>in Game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830BE-5C77-A567-344A-5F735CCFBA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3297"/>
            <a:ext cx="4619621" cy="38436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Matthew Whiting</a:t>
            </a:r>
          </a:p>
          <a:p>
            <a:pPr marL="0" indent="0">
              <a:buNone/>
            </a:pPr>
            <a:r>
              <a:rPr lang="en-US" sz="2000" dirty="0"/>
              <a:t>University of Southern California</a:t>
            </a:r>
          </a:p>
          <a:p>
            <a:pPr marL="0" indent="0">
              <a:buNone/>
            </a:pPr>
            <a:r>
              <a:rPr lang="en-US" sz="2000" dirty="0"/>
              <a:t>Los Angeles, California, USA</a:t>
            </a:r>
          </a:p>
          <a:p>
            <a:pPr marL="0" indent="0">
              <a:buNone/>
            </a:pPr>
            <a:r>
              <a:rPr lang="en-US" sz="2000" dirty="0"/>
              <a:t>whitingm@usc.edu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94F8A7-CC56-A486-9B26-ACA9B039D5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84" r="5010"/>
          <a:stretch>
            <a:fillRect/>
          </a:stretch>
        </p:blipFill>
        <p:spPr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4085011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26A33-A5AF-F2A2-C3AA-BD9D23377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9439"/>
          </a:xfrm>
        </p:spPr>
        <p:txBody>
          <a:bodyPr/>
          <a:lstStyle/>
          <a:p>
            <a:r>
              <a:rPr lang="en-US"/>
              <a:t>Gimbal Lock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7F5B7CE-AE01-8C86-F5A9-530E8D500E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" y="2272367"/>
            <a:ext cx="4660415" cy="43513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19DB2C-D9D7-0629-7E63-518E10195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3135" y="1500062"/>
            <a:ext cx="2453069" cy="21919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A4FC098-21F9-C1E3-C5B2-8177C83FE5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8513" y="3786666"/>
            <a:ext cx="3180588" cy="28370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EEC9E30-1011-5A52-F171-7161D187071D}"/>
              </a:ext>
            </a:extLst>
          </p:cNvPr>
          <p:cNvSpPr txBox="1"/>
          <p:nvPr/>
        </p:nvSpPr>
        <p:spPr>
          <a:xfrm>
            <a:off x="6455664" y="669065"/>
            <a:ext cx="23405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Suffer from “Gimbal Lock”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5B3BBC5-B653-59B0-CAC7-6D9C84400B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0359" y="724844"/>
            <a:ext cx="2351330" cy="217262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A89BC05-2534-9034-8D8D-65843DAA75E1}"/>
              </a:ext>
            </a:extLst>
          </p:cNvPr>
          <p:cNvSpPr txBox="1"/>
          <p:nvPr/>
        </p:nvSpPr>
        <p:spPr>
          <a:xfrm>
            <a:off x="342899" y="1810702"/>
            <a:ext cx="4660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Euler Angles are Intuitive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370836-F2DE-A558-F39D-5667BEE2CCA3}"/>
              </a:ext>
            </a:extLst>
          </p:cNvPr>
          <p:cNvSpPr txBox="1"/>
          <p:nvPr/>
        </p:nvSpPr>
        <p:spPr>
          <a:xfrm>
            <a:off x="8965753" y="2897473"/>
            <a:ext cx="23459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Lost “Degree of Freedom”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7586EB-5B2E-E3C8-1A70-0521A592C072}"/>
              </a:ext>
            </a:extLst>
          </p:cNvPr>
          <p:cNvSpPr txBox="1"/>
          <p:nvPr/>
        </p:nvSpPr>
        <p:spPr>
          <a:xfrm>
            <a:off x="5279999" y="4032537"/>
            <a:ext cx="33885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Euler Angles are </a:t>
            </a:r>
            <a:r>
              <a:rPr lang="en-US" sz="2400" b="1" dirty="0"/>
              <a:t>Discontinuous</a:t>
            </a:r>
            <a:br>
              <a:rPr lang="en-US" sz="2400" b="1" dirty="0"/>
            </a:br>
            <a:r>
              <a:rPr lang="en-US" sz="2400" dirty="0"/>
              <a:t>at the Poles</a:t>
            </a:r>
          </a:p>
        </p:txBody>
      </p:sp>
    </p:spTree>
    <p:extLst>
      <p:ext uri="{BB962C8B-B14F-4D97-AF65-F5344CB8AC3E}">
        <p14:creationId xmlns:p14="http://schemas.microsoft.com/office/powerpoint/2010/main" val="3119969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4" grpId="0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08DF32-6843-271E-385E-8FD16F2FEF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1036" y="1262207"/>
                <a:ext cx="6001882" cy="435133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sz="12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08DF32-6843-271E-385E-8FD16F2FEF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1036" y="1262207"/>
                <a:ext cx="6001882" cy="4351338"/>
              </a:xfrm>
              <a:blipFill>
                <a:blip r:embed="rId2"/>
                <a:stretch>
                  <a:fillRect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>
            <a:extLst>
              <a:ext uri="{FF2B5EF4-FFF2-40B4-BE49-F238E27FC236}">
                <a16:creationId xmlns:a16="http://schemas.microsoft.com/office/drawing/2014/main" id="{0BA26F9F-969F-2B79-0BDC-315A5D18984C}"/>
              </a:ext>
            </a:extLst>
          </p:cNvPr>
          <p:cNvSpPr/>
          <p:nvPr/>
        </p:nvSpPr>
        <p:spPr>
          <a:xfrm>
            <a:off x="2762226" y="2384210"/>
            <a:ext cx="905256" cy="50292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2169BF2-DB05-CE05-702C-D00C1CCBD36F}"/>
              </a:ext>
            </a:extLst>
          </p:cNvPr>
          <p:cNvSpPr/>
          <p:nvPr/>
        </p:nvSpPr>
        <p:spPr>
          <a:xfrm>
            <a:off x="4198481" y="2384210"/>
            <a:ext cx="905256" cy="50292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B8D0496-FCB5-CE0E-65D8-A4F5A6B8512D}"/>
              </a:ext>
            </a:extLst>
          </p:cNvPr>
          <p:cNvSpPr/>
          <p:nvPr/>
        </p:nvSpPr>
        <p:spPr>
          <a:xfrm>
            <a:off x="3053172" y="2948696"/>
            <a:ext cx="905256" cy="50292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A75A0B5-B528-1764-8D7A-7E6EC89FF589}"/>
              </a:ext>
            </a:extLst>
          </p:cNvPr>
          <p:cNvSpPr/>
          <p:nvPr/>
        </p:nvSpPr>
        <p:spPr>
          <a:xfrm>
            <a:off x="5357644" y="2948696"/>
            <a:ext cx="905256" cy="50292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883F520-EE07-64B8-A588-7A2FCF841BA1}"/>
                  </a:ext>
                </a:extLst>
              </p:cNvPr>
              <p:cNvSpPr txBox="1"/>
              <p:nvPr/>
            </p:nvSpPr>
            <p:spPr>
              <a:xfrm>
                <a:off x="8238836" y="440171"/>
                <a:ext cx="3389746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 roll</a:t>
                </a: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 pitch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 yaw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b="0" dirty="0"/>
                  <a:t>  body axis roll rate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b="0" dirty="0"/>
                  <a:t>  body axis pitch rate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 body axis yaw rate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883F520-EE07-64B8-A588-7A2FCF841B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836" y="440171"/>
                <a:ext cx="3389746" cy="2031325"/>
              </a:xfrm>
              <a:prstGeom prst="rect">
                <a:avLst/>
              </a:prstGeom>
              <a:blipFill>
                <a:blip r:embed="rId3"/>
                <a:stretch>
                  <a:fillRect l="-540" t="-1201" b="-4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A2EC155-436A-19B8-D2C6-094A76AF7C67}"/>
                  </a:ext>
                </a:extLst>
              </p:cNvPr>
              <p:cNvSpPr txBox="1"/>
              <p:nvPr/>
            </p:nvSpPr>
            <p:spPr>
              <a:xfrm>
                <a:off x="662985" y="4604558"/>
                <a:ext cx="6677891" cy="6638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When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dirty="0"/>
                  <a:t> hits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800" dirty="0"/>
                  <a:t>, we get singularities here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A2EC155-436A-19B8-D2C6-094A76AF7C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985" y="4604558"/>
                <a:ext cx="6677891" cy="663836"/>
              </a:xfrm>
              <a:prstGeom prst="rect">
                <a:avLst/>
              </a:prstGeom>
              <a:blipFill>
                <a:blip r:embed="rId4"/>
                <a:stretch>
                  <a:fillRect l="-1918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B966C09-2500-4083-33B2-98A381D0B5AD}"/>
                  </a:ext>
                </a:extLst>
              </p:cNvPr>
              <p:cNvSpPr txBox="1"/>
              <p:nvPr/>
            </p:nvSpPr>
            <p:spPr>
              <a:xfrm>
                <a:off x="662984" y="5268394"/>
                <a:ext cx="6677891" cy="14251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sz="2800" dirty="0"/>
                  <a:t> is fine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e>
                    </m:acc>
                  </m:oMath>
                </a14:m>
                <a:r>
                  <a:rPr lang="en-US" sz="2800" dirty="0"/>
                  <a:t> and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</m:t>
                        </m:r>
                      </m:e>
                    </m:acc>
                  </m:oMath>
                </a14:m>
                <a:r>
                  <a:rPr lang="en-US" sz="2800" dirty="0"/>
                  <a:t> approach infinity</a:t>
                </a:r>
              </a:p>
              <a:p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sz="2800" dirty="0"/>
                  <a:t> and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2800" dirty="0"/>
                  <a:t> are </a:t>
                </a:r>
                <a:r>
                  <a:rPr lang="en-US" sz="2800" b="1" dirty="0"/>
                  <a:t>discontinuous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B966C09-2500-4083-33B2-98A381D0B5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984" y="5268394"/>
                <a:ext cx="6677891" cy="1425134"/>
              </a:xfrm>
              <a:prstGeom prst="rect">
                <a:avLst/>
              </a:prstGeom>
              <a:blipFill>
                <a:blip r:embed="rId5"/>
                <a:stretch>
                  <a:fillRect t="-2564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F24FA0E5-D397-FF5C-9FDF-D4FFA7AB475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39099" y="2899104"/>
            <a:ext cx="3789219" cy="33933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5347251-8ACF-E5A0-5FDF-7A05E168E62E}"/>
              </a:ext>
            </a:extLst>
          </p:cNvPr>
          <p:cNvSpPr txBox="1"/>
          <p:nvPr/>
        </p:nvSpPr>
        <p:spPr>
          <a:xfrm>
            <a:off x="756550" y="264218"/>
            <a:ext cx="58218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Gimbal Lock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1323F66-D1AD-E8A6-C369-639D5176FBDE}"/>
              </a:ext>
            </a:extLst>
          </p:cNvPr>
          <p:cNvCxnSpPr>
            <a:cxnSpLocks/>
            <a:endCxn id="4" idx="5"/>
          </p:cNvCxnSpPr>
          <p:nvPr/>
        </p:nvCxnSpPr>
        <p:spPr>
          <a:xfrm flipH="1" flipV="1">
            <a:off x="3534910" y="2813479"/>
            <a:ext cx="2950654" cy="1894812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217562E-AFA5-46A9-BB4D-BBC4457831D7}"/>
              </a:ext>
            </a:extLst>
          </p:cNvPr>
          <p:cNvCxnSpPr>
            <a:cxnSpLocks/>
            <a:endCxn id="5" idx="4"/>
          </p:cNvCxnSpPr>
          <p:nvPr/>
        </p:nvCxnSpPr>
        <p:spPr>
          <a:xfrm flipH="1" flipV="1">
            <a:off x="4651109" y="2887130"/>
            <a:ext cx="1834455" cy="1825079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C18BEF-84F4-DBFC-9C45-6EB0191BEAAF}"/>
              </a:ext>
            </a:extLst>
          </p:cNvPr>
          <p:cNvCxnSpPr>
            <a:cxnSpLocks/>
            <a:endCxn id="6" idx="5"/>
          </p:cNvCxnSpPr>
          <p:nvPr/>
        </p:nvCxnSpPr>
        <p:spPr>
          <a:xfrm flipH="1" flipV="1">
            <a:off x="3825856" y="3377965"/>
            <a:ext cx="2657074" cy="1330326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91512B6-C2C9-0917-B62F-17586D9DD119}"/>
              </a:ext>
            </a:extLst>
          </p:cNvPr>
          <p:cNvCxnSpPr>
            <a:cxnSpLocks/>
            <a:endCxn id="7" idx="4"/>
          </p:cNvCxnSpPr>
          <p:nvPr/>
        </p:nvCxnSpPr>
        <p:spPr>
          <a:xfrm flipH="1" flipV="1">
            <a:off x="5810272" y="3451616"/>
            <a:ext cx="672658" cy="1256675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98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0"/>
                            </p:stCondLst>
                            <p:childTnLst>
                              <p:par>
                                <p:cTn id="23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0"/>
                            </p:stCondLst>
                            <p:childTnLst>
                              <p:par>
                                <p:cTn id="2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500"/>
                            </p:stCondLst>
                            <p:childTnLst>
                              <p:par>
                                <p:cTn id="31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4000"/>
                            </p:stCondLst>
                            <p:childTnLst>
                              <p:par>
                                <p:cTn id="3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500"/>
                            </p:stCondLst>
                            <p:childTnLst>
                              <p:par>
                                <p:cTn id="3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D29C6-DEF8-0C9C-5878-6B81FC790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7FA98D-E016-2017-3F51-EBDAAC7A1A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39099" y="2899104"/>
            <a:ext cx="3789219" cy="33933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8FA53A-081E-A0C9-2591-B7787F5C3B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1036" y="1262207"/>
                <a:ext cx="6001882" cy="435133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sz="12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8FA53A-081E-A0C9-2591-B7787F5C3B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1036" y="1262207"/>
                <a:ext cx="6001882" cy="4351338"/>
              </a:xfrm>
              <a:blipFill>
                <a:blip r:embed="rId3"/>
                <a:stretch>
                  <a:fillRect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2BED82-259D-A054-9688-F10B85B7612E}"/>
                  </a:ext>
                </a:extLst>
              </p:cNvPr>
              <p:cNvSpPr txBox="1"/>
              <p:nvPr/>
            </p:nvSpPr>
            <p:spPr>
              <a:xfrm>
                <a:off x="8238836" y="440171"/>
                <a:ext cx="3389746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 roll</a:t>
                </a: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 pitch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 yaw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b="0" dirty="0"/>
                  <a:t>  body axis roll rate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b="0" dirty="0"/>
                  <a:t>  body axis pitch rate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 body axis yaw rate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2BED82-259D-A054-9688-F10B85B76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836" y="440171"/>
                <a:ext cx="3389746" cy="2031325"/>
              </a:xfrm>
              <a:prstGeom prst="rect">
                <a:avLst/>
              </a:prstGeom>
              <a:blipFill>
                <a:blip r:embed="rId4"/>
                <a:stretch>
                  <a:fillRect l="-540" t="-1201" b="-4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C6BBA43-E2D3-4C41-1957-FAE81B8A5263}"/>
                  </a:ext>
                </a:extLst>
              </p:cNvPr>
              <p:cNvSpPr txBox="1"/>
              <p:nvPr/>
            </p:nvSpPr>
            <p:spPr>
              <a:xfrm>
                <a:off x="662985" y="4604558"/>
                <a:ext cx="709112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At the poles,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sz="2800" dirty="0"/>
                  <a:t> and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2800" dirty="0"/>
                  <a:t> are interchangeable.</a:t>
                </a:r>
                <a:br>
                  <a:rPr lang="en-US" sz="2800" dirty="0"/>
                </a:br>
                <a:r>
                  <a:rPr lang="en-US" sz="2800" dirty="0"/>
                  <a:t>Any combination of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2800" dirty="0"/>
                  <a:t> are equally valid.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C6BBA43-E2D3-4C41-1957-FAE81B8A52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985" y="4604558"/>
                <a:ext cx="7091127" cy="954107"/>
              </a:xfrm>
              <a:prstGeom prst="rect">
                <a:avLst/>
              </a:prstGeom>
              <a:blipFill>
                <a:blip r:embed="rId5"/>
                <a:stretch>
                  <a:fillRect l="-1806" t="-6369" b="-165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4EA90B91-9704-9F3A-E3FC-05C3400E5443}"/>
              </a:ext>
            </a:extLst>
          </p:cNvPr>
          <p:cNvSpPr txBox="1"/>
          <p:nvPr/>
        </p:nvSpPr>
        <p:spPr>
          <a:xfrm>
            <a:off x="756550" y="264218"/>
            <a:ext cx="58218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Gimbal Lock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099C660B-877D-C133-0D0C-F6DB828B4FA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1036" y="1262207"/>
                <a:ext cx="6001882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𝑞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r>
                        <a:rPr lang="en-US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𝑞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𝑟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𝑞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𝑟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func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099C660B-877D-C133-0D0C-F6DB828B4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036" y="1262207"/>
                <a:ext cx="6001882" cy="4351338"/>
              </a:xfrm>
              <a:prstGeom prst="rect">
                <a:avLst/>
              </a:prstGeom>
              <a:blipFill>
                <a:blip r:embed="rId6"/>
                <a:stretch>
                  <a:fillRect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29F0086A-9F52-C529-4373-C714A0951E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39099" y="2904413"/>
            <a:ext cx="3789219" cy="3382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825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/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D86CC-7694-EFD1-546D-54FC4E4C7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C9B67-E587-C486-A2A9-A14D96D35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9439"/>
          </a:xfrm>
        </p:spPr>
        <p:txBody>
          <a:bodyPr/>
          <a:lstStyle/>
          <a:p>
            <a:r>
              <a:rPr lang="en-US" dirty="0"/>
              <a:t>Altazimuth (Az/El) Mounts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F5043E-2532-6CD6-EC77-061D1B22F077}"/>
              </a:ext>
            </a:extLst>
          </p:cNvPr>
          <p:cNvSpPr txBox="1"/>
          <p:nvPr/>
        </p:nvSpPr>
        <p:spPr>
          <a:xfrm>
            <a:off x="553211" y="1084564"/>
            <a:ext cx="4660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Some Typical Game Scenarios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8ACC8C-5BA9-9278-9F4F-C80B3F99DB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3640" y="667660"/>
            <a:ext cx="3924848" cy="32770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BC0648-163E-E401-C70A-0BF56DA56F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12" y="2654224"/>
            <a:ext cx="4157451" cy="3990876"/>
          </a:xfrm>
          <a:prstGeom prst="rect">
            <a:avLst/>
          </a:prstGeom>
        </p:spPr>
      </p:pic>
      <p:sp>
        <p:nvSpPr>
          <p:cNvPr id="17" name="Arc 16">
            <a:extLst>
              <a:ext uri="{FF2B5EF4-FFF2-40B4-BE49-F238E27FC236}">
                <a16:creationId xmlns:a16="http://schemas.microsoft.com/office/drawing/2014/main" id="{5580AE24-F8B0-F22E-83A2-E2E86C6E9393}"/>
              </a:ext>
            </a:extLst>
          </p:cNvPr>
          <p:cNvSpPr/>
          <p:nvPr/>
        </p:nvSpPr>
        <p:spPr>
          <a:xfrm>
            <a:off x="9145689" y="2306188"/>
            <a:ext cx="380724" cy="748855"/>
          </a:xfrm>
          <a:prstGeom prst="arc">
            <a:avLst>
              <a:gd name="adj1" fmla="val 4823677"/>
              <a:gd name="adj2" fmla="val 21139031"/>
            </a:avLst>
          </a:prstGeom>
          <a:ln w="50800">
            <a:solidFill>
              <a:srgbClr val="FF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77EAF1D-D342-1BB3-BC4D-955B7404B771}"/>
              </a:ext>
            </a:extLst>
          </p:cNvPr>
          <p:cNvGrpSpPr/>
          <p:nvPr/>
        </p:nvGrpSpPr>
        <p:grpSpPr>
          <a:xfrm>
            <a:off x="9013379" y="2760638"/>
            <a:ext cx="1173849" cy="212437"/>
            <a:chOff x="1266168" y="5467926"/>
            <a:chExt cx="1173849" cy="212437"/>
          </a:xfrm>
        </p:grpSpPr>
        <p:sp>
          <p:nvSpPr>
            <p:cNvPr id="18" name="Arc 17">
              <a:extLst>
                <a:ext uri="{FF2B5EF4-FFF2-40B4-BE49-F238E27FC236}">
                  <a16:creationId xmlns:a16="http://schemas.microsoft.com/office/drawing/2014/main" id="{47F33AFA-AFF5-5B48-3982-D5FE70461001}"/>
                </a:ext>
              </a:extLst>
            </p:cNvPr>
            <p:cNvSpPr/>
            <p:nvPr/>
          </p:nvSpPr>
          <p:spPr>
            <a:xfrm>
              <a:off x="1266168" y="5467926"/>
              <a:ext cx="1173849" cy="212437"/>
            </a:xfrm>
            <a:prstGeom prst="arc">
              <a:avLst>
                <a:gd name="adj1" fmla="val 5749682"/>
                <a:gd name="adj2" fmla="val 11706270"/>
              </a:avLst>
            </a:prstGeom>
            <a:ln w="50800">
              <a:solidFill>
                <a:srgbClr val="00FF00"/>
              </a:solidFill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36B7E16E-8C3E-33B7-8AA4-CA02BD5A6698}"/>
                </a:ext>
              </a:extLst>
            </p:cNvPr>
            <p:cNvSpPr/>
            <p:nvPr/>
          </p:nvSpPr>
          <p:spPr>
            <a:xfrm>
              <a:off x="1266168" y="5467926"/>
              <a:ext cx="1173849" cy="212437"/>
            </a:xfrm>
            <a:prstGeom prst="arc">
              <a:avLst>
                <a:gd name="adj1" fmla="val 19903826"/>
                <a:gd name="adj2" fmla="val 21229863"/>
              </a:avLst>
            </a:prstGeom>
            <a:ln w="50800">
              <a:solidFill>
                <a:srgbClr val="00FF00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0C554AF-F63F-905B-4130-C63997043284}"/>
              </a:ext>
            </a:extLst>
          </p:cNvPr>
          <p:cNvGrpSpPr/>
          <p:nvPr/>
        </p:nvGrpSpPr>
        <p:grpSpPr>
          <a:xfrm>
            <a:off x="1167573" y="4526279"/>
            <a:ext cx="1330867" cy="947661"/>
            <a:chOff x="8682181" y="4533185"/>
            <a:chExt cx="1330867" cy="947661"/>
          </a:xfrm>
        </p:grpSpPr>
        <p:sp>
          <p:nvSpPr>
            <p:cNvPr id="21" name="Arc 20">
              <a:extLst>
                <a:ext uri="{FF2B5EF4-FFF2-40B4-BE49-F238E27FC236}">
                  <a16:creationId xmlns:a16="http://schemas.microsoft.com/office/drawing/2014/main" id="{6EE6D35C-AB6A-CDF1-56D8-B7995EE2950D}"/>
                </a:ext>
              </a:extLst>
            </p:cNvPr>
            <p:cNvSpPr/>
            <p:nvPr/>
          </p:nvSpPr>
          <p:spPr>
            <a:xfrm>
              <a:off x="8682181" y="4533185"/>
              <a:ext cx="1330867" cy="934741"/>
            </a:xfrm>
            <a:prstGeom prst="arc">
              <a:avLst>
                <a:gd name="adj1" fmla="val 19012440"/>
                <a:gd name="adj2" fmla="val 2278130"/>
              </a:avLst>
            </a:prstGeom>
            <a:ln w="50800">
              <a:solidFill>
                <a:srgbClr val="00FF00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97BE462A-94A3-3B09-6FF2-887D660587B2}"/>
                </a:ext>
              </a:extLst>
            </p:cNvPr>
            <p:cNvSpPr/>
            <p:nvPr/>
          </p:nvSpPr>
          <p:spPr>
            <a:xfrm>
              <a:off x="8682181" y="4546105"/>
              <a:ext cx="1330867" cy="934741"/>
            </a:xfrm>
            <a:prstGeom prst="arc">
              <a:avLst>
                <a:gd name="adj1" fmla="val 5962913"/>
                <a:gd name="adj2" fmla="val 14791355"/>
              </a:avLst>
            </a:prstGeom>
            <a:ln w="50800">
              <a:solidFill>
                <a:srgbClr val="00FF00"/>
              </a:solidFill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BA329BA-44E2-4924-DD01-EA1F86A41493}"/>
              </a:ext>
            </a:extLst>
          </p:cNvPr>
          <p:cNvGrpSpPr/>
          <p:nvPr/>
        </p:nvGrpSpPr>
        <p:grpSpPr>
          <a:xfrm>
            <a:off x="1563906" y="4151851"/>
            <a:ext cx="294086" cy="761775"/>
            <a:chOff x="9078514" y="4158757"/>
            <a:chExt cx="294086" cy="761775"/>
          </a:xfrm>
        </p:grpSpPr>
        <p:sp>
          <p:nvSpPr>
            <p:cNvPr id="23" name="Arc 22">
              <a:extLst>
                <a:ext uri="{FF2B5EF4-FFF2-40B4-BE49-F238E27FC236}">
                  <a16:creationId xmlns:a16="http://schemas.microsoft.com/office/drawing/2014/main" id="{7C22849A-6849-86A7-82F2-FB6FCEC3C17E}"/>
                </a:ext>
              </a:extLst>
            </p:cNvPr>
            <p:cNvSpPr/>
            <p:nvPr/>
          </p:nvSpPr>
          <p:spPr>
            <a:xfrm>
              <a:off x="9078515" y="4158757"/>
              <a:ext cx="294085" cy="748855"/>
            </a:xfrm>
            <a:prstGeom prst="arc">
              <a:avLst>
                <a:gd name="adj1" fmla="val 4823677"/>
                <a:gd name="adj2" fmla="val 12959237"/>
              </a:avLst>
            </a:prstGeom>
            <a:ln w="50800">
              <a:solidFill>
                <a:srgbClr val="FF0000"/>
              </a:solidFill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D044B286-D483-0596-8F2D-C1F8C1753A94}"/>
                </a:ext>
              </a:extLst>
            </p:cNvPr>
            <p:cNvSpPr/>
            <p:nvPr/>
          </p:nvSpPr>
          <p:spPr>
            <a:xfrm>
              <a:off x="9078514" y="4171677"/>
              <a:ext cx="294085" cy="748855"/>
            </a:xfrm>
            <a:prstGeom prst="arc">
              <a:avLst>
                <a:gd name="adj1" fmla="val 18412206"/>
                <a:gd name="adj2" fmla="val 2964496"/>
              </a:avLst>
            </a:prstGeom>
            <a:ln w="50800">
              <a:solidFill>
                <a:srgbClr val="FF00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7BC296F3-ADEB-5C0F-B0E2-D4F8D4415AD6}"/>
              </a:ext>
            </a:extLst>
          </p:cNvPr>
          <p:cNvSpPr txBox="1"/>
          <p:nvPr/>
        </p:nvSpPr>
        <p:spPr>
          <a:xfrm>
            <a:off x="7963640" y="205995"/>
            <a:ext cx="39248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Security Camera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9726032-E676-6FD8-552A-4C136ED31022}"/>
              </a:ext>
            </a:extLst>
          </p:cNvPr>
          <p:cNvSpPr txBox="1"/>
          <p:nvPr/>
        </p:nvSpPr>
        <p:spPr>
          <a:xfrm>
            <a:off x="303511" y="2192559"/>
            <a:ext cx="41574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Laser Turret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5FF37ED-21DB-C53E-09D3-E556B1D6DFD6}"/>
              </a:ext>
            </a:extLst>
          </p:cNvPr>
          <p:cNvSpPr txBox="1"/>
          <p:nvPr/>
        </p:nvSpPr>
        <p:spPr>
          <a:xfrm>
            <a:off x="5630837" y="4526278"/>
            <a:ext cx="625765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They only have 2 degrees of freedom</a:t>
            </a:r>
          </a:p>
          <a:p>
            <a:r>
              <a:rPr lang="en-US" sz="2400" dirty="0"/>
              <a:t>Physically, Specifically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Azimuth (Yaw)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Altitude/Elevation (Pitch)</a:t>
            </a:r>
          </a:p>
        </p:txBody>
      </p:sp>
    </p:spTree>
    <p:extLst>
      <p:ext uri="{BB962C8B-B14F-4D97-AF65-F5344CB8AC3E}">
        <p14:creationId xmlns:p14="http://schemas.microsoft.com/office/powerpoint/2010/main" val="556293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3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D2C2F-1BEF-64EA-BC1A-A4B83574A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CE092-94EA-3819-AA7C-98073DF75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9439"/>
          </a:xfrm>
        </p:spPr>
        <p:txBody>
          <a:bodyPr/>
          <a:lstStyle/>
          <a:p>
            <a:r>
              <a:rPr lang="en-US" dirty="0"/>
              <a:t>Altazimuth (Az/El) Mounts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374227-7470-4BB7-DC28-F702C5D6662C}"/>
              </a:ext>
            </a:extLst>
          </p:cNvPr>
          <p:cNvSpPr txBox="1"/>
          <p:nvPr/>
        </p:nvSpPr>
        <p:spPr>
          <a:xfrm>
            <a:off x="553211" y="1084564"/>
            <a:ext cx="4660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Some Typical Game Scenarios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DD4404-692A-7BF2-8415-DCFAA4561D13}"/>
              </a:ext>
            </a:extLst>
          </p:cNvPr>
          <p:cNvSpPr txBox="1"/>
          <p:nvPr/>
        </p:nvSpPr>
        <p:spPr>
          <a:xfrm>
            <a:off x="309029" y="1692192"/>
            <a:ext cx="546083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Quaternions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Unrestricted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3 Degrees of Freedom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On a Single Joint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0BCADD-986D-5469-601D-B67B07E0D7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9120" y="1765685"/>
            <a:ext cx="5553850" cy="488700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64822A8-0334-E506-13B5-92C7C90FAB35}"/>
              </a:ext>
            </a:extLst>
          </p:cNvPr>
          <p:cNvSpPr txBox="1"/>
          <p:nvPr/>
        </p:nvSpPr>
        <p:spPr>
          <a:xfrm>
            <a:off x="6329120" y="1230527"/>
            <a:ext cx="55538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Quaternions Allow Roll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40AA7E4-DA35-E02A-B0E2-D2D879CB87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8763" y="4009792"/>
            <a:ext cx="2772268" cy="256974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1B55A2C-185D-323A-B0FD-32AD2D229952}"/>
              </a:ext>
            </a:extLst>
          </p:cNvPr>
          <p:cNvSpPr txBox="1"/>
          <p:nvPr/>
        </p:nvSpPr>
        <p:spPr>
          <a:xfrm>
            <a:off x="1884107" y="3548127"/>
            <a:ext cx="27722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Constraints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DB416F9-29D0-84EA-F61B-EE92F2D32565}"/>
              </a:ext>
            </a:extLst>
          </p:cNvPr>
          <p:cNvGrpSpPr/>
          <p:nvPr/>
        </p:nvGrpSpPr>
        <p:grpSpPr>
          <a:xfrm>
            <a:off x="8574213" y="4862693"/>
            <a:ext cx="1330867" cy="550556"/>
            <a:chOff x="8574213" y="4862693"/>
            <a:chExt cx="1330867" cy="550556"/>
          </a:xfrm>
        </p:grpSpPr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DBA2B46C-D06B-455F-E84A-EEEFC6A3D5A2}"/>
                </a:ext>
              </a:extLst>
            </p:cNvPr>
            <p:cNvSpPr/>
            <p:nvPr/>
          </p:nvSpPr>
          <p:spPr>
            <a:xfrm>
              <a:off x="8574213" y="4862693"/>
              <a:ext cx="1330867" cy="543050"/>
            </a:xfrm>
            <a:prstGeom prst="arc">
              <a:avLst>
                <a:gd name="adj1" fmla="val 19392547"/>
                <a:gd name="adj2" fmla="val 1080808"/>
              </a:avLst>
            </a:prstGeom>
            <a:ln w="50800">
              <a:solidFill>
                <a:srgbClr val="00FF00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4251575B-1953-2E9D-14E5-959BCADA59B9}"/>
                </a:ext>
              </a:extLst>
            </p:cNvPr>
            <p:cNvSpPr/>
            <p:nvPr/>
          </p:nvSpPr>
          <p:spPr>
            <a:xfrm>
              <a:off x="8574213" y="4870199"/>
              <a:ext cx="1330867" cy="543050"/>
            </a:xfrm>
            <a:prstGeom prst="arc">
              <a:avLst>
                <a:gd name="adj1" fmla="val 9600784"/>
                <a:gd name="adj2" fmla="val 12829323"/>
              </a:avLst>
            </a:prstGeom>
            <a:ln w="50800">
              <a:solidFill>
                <a:srgbClr val="00FF00"/>
              </a:solidFill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15B61F1-DBDD-3D56-252C-4A3243665371}"/>
              </a:ext>
            </a:extLst>
          </p:cNvPr>
          <p:cNvGrpSpPr/>
          <p:nvPr/>
        </p:nvGrpSpPr>
        <p:grpSpPr>
          <a:xfrm>
            <a:off x="9418320" y="3932181"/>
            <a:ext cx="678416" cy="761775"/>
            <a:chOff x="9418320" y="3932181"/>
            <a:chExt cx="678416" cy="761775"/>
          </a:xfrm>
        </p:grpSpPr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26EB1223-6C67-77E0-D04C-F12A434A33D0}"/>
                </a:ext>
              </a:extLst>
            </p:cNvPr>
            <p:cNvSpPr/>
            <p:nvPr/>
          </p:nvSpPr>
          <p:spPr>
            <a:xfrm>
              <a:off x="9418322" y="3932181"/>
              <a:ext cx="678414" cy="748855"/>
            </a:xfrm>
            <a:prstGeom prst="arc">
              <a:avLst>
                <a:gd name="adj1" fmla="val 4823677"/>
                <a:gd name="adj2" fmla="val 8848936"/>
              </a:avLst>
            </a:prstGeom>
            <a:ln w="50800">
              <a:solidFill>
                <a:srgbClr val="FF0000"/>
              </a:solidFill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A7EDA6DE-FC88-73A9-A89B-0FBB481A0289}"/>
                </a:ext>
              </a:extLst>
            </p:cNvPr>
            <p:cNvSpPr/>
            <p:nvPr/>
          </p:nvSpPr>
          <p:spPr>
            <a:xfrm>
              <a:off x="9418320" y="3945101"/>
              <a:ext cx="678414" cy="748855"/>
            </a:xfrm>
            <a:prstGeom prst="arc">
              <a:avLst>
                <a:gd name="adj1" fmla="val 18412206"/>
                <a:gd name="adj2" fmla="val 20990444"/>
              </a:avLst>
            </a:prstGeom>
            <a:ln w="50800">
              <a:solidFill>
                <a:srgbClr val="FF00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39902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26B6A-1C8F-468F-E9A9-DB5BD137D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036B1568-B409-9D4D-1102-DD6FED5FD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509" y="1771309"/>
            <a:ext cx="7392432" cy="4877481"/>
          </a:xfrm>
          <a:prstGeom prst="rect">
            <a:avLst/>
          </a:prstGeom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22F94D69-867D-2877-0EFA-3123F88DBFC3}"/>
              </a:ext>
            </a:extLst>
          </p:cNvPr>
          <p:cNvGrpSpPr/>
          <p:nvPr/>
        </p:nvGrpSpPr>
        <p:grpSpPr>
          <a:xfrm>
            <a:off x="1565568" y="2252288"/>
            <a:ext cx="4877482" cy="4877482"/>
            <a:chOff x="1565568" y="2252288"/>
            <a:chExt cx="4877482" cy="4877482"/>
          </a:xfrm>
        </p:grpSpPr>
        <p:sp>
          <p:nvSpPr>
            <p:cNvPr id="43" name="Arc 42">
              <a:extLst>
                <a:ext uri="{FF2B5EF4-FFF2-40B4-BE49-F238E27FC236}">
                  <a16:creationId xmlns:a16="http://schemas.microsoft.com/office/drawing/2014/main" id="{C3B3E5C2-F9B8-5142-7CC4-6CED723506F9}"/>
                </a:ext>
              </a:extLst>
            </p:cNvPr>
            <p:cNvSpPr/>
            <p:nvPr/>
          </p:nvSpPr>
          <p:spPr>
            <a:xfrm>
              <a:off x="1565568" y="2252288"/>
              <a:ext cx="4877482" cy="4877482"/>
            </a:xfrm>
            <a:prstGeom prst="arc">
              <a:avLst>
                <a:gd name="adj1" fmla="val 17565088"/>
                <a:gd name="adj2" fmla="val 19438663"/>
              </a:avLst>
            </a:prstGeom>
            <a:ln w="50800">
              <a:solidFill>
                <a:srgbClr val="FF0000"/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Arc 43">
              <a:extLst>
                <a:ext uri="{FF2B5EF4-FFF2-40B4-BE49-F238E27FC236}">
                  <a16:creationId xmlns:a16="http://schemas.microsoft.com/office/drawing/2014/main" id="{30E3238C-B970-FEFF-91CE-52A04CF93E54}"/>
                </a:ext>
              </a:extLst>
            </p:cNvPr>
            <p:cNvSpPr/>
            <p:nvPr/>
          </p:nvSpPr>
          <p:spPr>
            <a:xfrm>
              <a:off x="1565568" y="2252288"/>
              <a:ext cx="4877482" cy="4877482"/>
            </a:xfrm>
            <a:prstGeom prst="arc">
              <a:avLst>
                <a:gd name="adj1" fmla="val 20082900"/>
                <a:gd name="adj2" fmla="val 981254"/>
              </a:avLst>
            </a:prstGeom>
            <a:ln w="50800">
              <a:solidFill>
                <a:srgbClr val="FF0000"/>
              </a:solidFill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9C7267A-FCBE-BC42-CD63-C8BCC4E77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9439"/>
          </a:xfrm>
        </p:spPr>
        <p:txBody>
          <a:bodyPr/>
          <a:lstStyle/>
          <a:p>
            <a:r>
              <a:rPr lang="en-US" dirty="0"/>
              <a:t>In-Game Camera</a:t>
            </a:r>
          </a:p>
        </p:txBody>
      </p:sp>
      <p:pic>
        <p:nvPicPr>
          <p:cNvPr id="1026" name="Picture 2" descr="Amazon.com: Microsoft Xbox One Wireless Video Gaming Controller, White  (Renewed) : Video Games">
            <a:extLst>
              <a:ext uri="{FF2B5EF4-FFF2-40B4-BE49-F238E27FC236}">
                <a16:creationId xmlns:a16="http://schemas.microsoft.com/office/drawing/2014/main" id="{DEE0E8F2-EC46-F4B4-E02B-3156DC2698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9233" y="3722325"/>
            <a:ext cx="2907792" cy="2907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rc 9">
            <a:extLst>
              <a:ext uri="{FF2B5EF4-FFF2-40B4-BE49-F238E27FC236}">
                <a16:creationId xmlns:a16="http://schemas.microsoft.com/office/drawing/2014/main" id="{511181F9-FBA3-5DEB-E75E-05A1BD0D4B7A}"/>
              </a:ext>
            </a:extLst>
          </p:cNvPr>
          <p:cNvSpPr/>
          <p:nvPr/>
        </p:nvSpPr>
        <p:spPr>
          <a:xfrm flipV="1">
            <a:off x="1534477" y="3506293"/>
            <a:ext cx="4939665" cy="432064"/>
          </a:xfrm>
          <a:prstGeom prst="arc">
            <a:avLst>
              <a:gd name="adj1" fmla="val 242455"/>
              <a:gd name="adj2" fmla="val 14500188"/>
            </a:avLst>
          </a:prstGeom>
          <a:ln w="50800">
            <a:solidFill>
              <a:srgbClr val="00FF00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259250B-11AD-23E9-9BC0-63C25CF56C1C}"/>
              </a:ext>
            </a:extLst>
          </p:cNvPr>
          <p:cNvGrpSpPr/>
          <p:nvPr/>
        </p:nvGrpSpPr>
        <p:grpSpPr>
          <a:xfrm>
            <a:off x="10026186" y="5075960"/>
            <a:ext cx="824925" cy="1154"/>
            <a:chOff x="10026186" y="5075960"/>
            <a:chExt cx="824925" cy="1154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6A4503F3-9BD5-DAA7-C9FF-CCB12262041B}"/>
                </a:ext>
              </a:extLst>
            </p:cNvPr>
            <p:cNvCxnSpPr/>
            <p:nvPr/>
          </p:nvCxnSpPr>
          <p:spPr>
            <a:xfrm>
              <a:off x="10576791" y="5077114"/>
              <a:ext cx="274320" cy="0"/>
            </a:xfrm>
            <a:prstGeom prst="straightConnector1">
              <a:avLst/>
            </a:prstGeom>
            <a:ln w="50800">
              <a:solidFill>
                <a:srgbClr val="00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DB28597-A653-7F1C-B3F4-705F1865B2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26186" y="5075960"/>
              <a:ext cx="274320" cy="0"/>
            </a:xfrm>
            <a:prstGeom prst="straightConnector1">
              <a:avLst/>
            </a:prstGeom>
            <a:ln w="50800">
              <a:solidFill>
                <a:srgbClr val="00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088E4C3-023F-47A7-D1C8-BACBF781B4A1}"/>
              </a:ext>
            </a:extLst>
          </p:cNvPr>
          <p:cNvGrpSpPr/>
          <p:nvPr/>
        </p:nvGrpSpPr>
        <p:grpSpPr>
          <a:xfrm>
            <a:off x="10442227" y="4691029"/>
            <a:ext cx="0" cy="759512"/>
            <a:chOff x="10442227" y="4691029"/>
            <a:chExt cx="0" cy="759512"/>
          </a:xfrm>
        </p:grpSpPr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B96863C0-4164-C898-7A1F-1B52BC00AD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42227" y="4691029"/>
              <a:ext cx="0" cy="274320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68A14E6-D923-9FB9-5300-89C495B9DB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42227" y="5176221"/>
              <a:ext cx="0" cy="274320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Graphic 3" descr="Video camera with solid fill">
            <a:extLst>
              <a:ext uri="{FF2B5EF4-FFF2-40B4-BE49-F238E27FC236}">
                <a16:creationId xmlns:a16="http://schemas.microsoft.com/office/drawing/2014/main" id="{6E58C3BF-CB35-8C44-1EFD-35D0906DC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8835002" flipH="1">
            <a:off x="4568211" y="1982581"/>
            <a:ext cx="869823" cy="914400"/>
          </a:xfrm>
          <a:prstGeom prst="rect">
            <a:avLst/>
          </a:prstGeom>
        </p:spPr>
      </p:pic>
      <p:pic>
        <p:nvPicPr>
          <p:cNvPr id="7" name="Graphic 6" descr="Video camera with solid fill">
            <a:extLst>
              <a:ext uri="{FF2B5EF4-FFF2-40B4-BE49-F238E27FC236}">
                <a16:creationId xmlns:a16="http://schemas.microsoft.com/office/drawing/2014/main" id="{BEE38559-2F5B-8E43-0C22-A338F6BB7A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0614532" flipH="1">
            <a:off x="5661088" y="3049093"/>
            <a:ext cx="869823" cy="914400"/>
          </a:xfrm>
          <a:prstGeom prst="rect">
            <a:avLst/>
          </a:prstGeom>
        </p:spPr>
      </p:pic>
      <p:sp>
        <p:nvSpPr>
          <p:cNvPr id="12" name="Arc 11">
            <a:extLst>
              <a:ext uri="{FF2B5EF4-FFF2-40B4-BE49-F238E27FC236}">
                <a16:creationId xmlns:a16="http://schemas.microsoft.com/office/drawing/2014/main" id="{4DE65BBE-4257-C3D5-AAEB-529061DDC6D2}"/>
              </a:ext>
            </a:extLst>
          </p:cNvPr>
          <p:cNvSpPr/>
          <p:nvPr/>
        </p:nvSpPr>
        <p:spPr>
          <a:xfrm flipV="1">
            <a:off x="1534477" y="3506293"/>
            <a:ext cx="4939665" cy="432064"/>
          </a:xfrm>
          <a:prstGeom prst="arc">
            <a:avLst>
              <a:gd name="adj1" fmla="val 18288197"/>
              <a:gd name="adj2" fmla="val 59620"/>
            </a:avLst>
          </a:prstGeom>
          <a:ln w="50800">
            <a:solidFill>
              <a:srgbClr val="00FF00"/>
            </a:solidFill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96309A-9D1D-EA19-9E37-BB65D3A4A883}"/>
              </a:ext>
            </a:extLst>
          </p:cNvPr>
          <p:cNvSpPr txBox="1"/>
          <p:nvPr/>
        </p:nvSpPr>
        <p:spPr>
          <a:xfrm>
            <a:off x="553211" y="1084564"/>
            <a:ext cx="4660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Spherical Polar Coordinates</a:t>
            </a:r>
          </a:p>
        </p:txBody>
      </p:sp>
    </p:spTree>
    <p:extLst>
      <p:ext uri="{BB962C8B-B14F-4D97-AF65-F5344CB8AC3E}">
        <p14:creationId xmlns:p14="http://schemas.microsoft.com/office/powerpoint/2010/main" val="4129609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92255-A082-EB62-1ED4-68F8C27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96818885-72E9-0302-C8BA-D2CCEFD49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509" y="1771309"/>
            <a:ext cx="7392432" cy="4877481"/>
          </a:xfrm>
          <a:prstGeom prst="rect">
            <a:avLst/>
          </a:prstGeom>
        </p:spPr>
      </p:pic>
      <p:sp>
        <p:nvSpPr>
          <p:cNvPr id="44" name="Arc 43">
            <a:extLst>
              <a:ext uri="{FF2B5EF4-FFF2-40B4-BE49-F238E27FC236}">
                <a16:creationId xmlns:a16="http://schemas.microsoft.com/office/drawing/2014/main" id="{7B53F390-5A4F-FE2D-8D16-FA19B3020F44}"/>
              </a:ext>
            </a:extLst>
          </p:cNvPr>
          <p:cNvSpPr/>
          <p:nvPr/>
        </p:nvSpPr>
        <p:spPr>
          <a:xfrm>
            <a:off x="1565568" y="2252288"/>
            <a:ext cx="4877482" cy="4877482"/>
          </a:xfrm>
          <a:prstGeom prst="arc">
            <a:avLst>
              <a:gd name="adj1" fmla="val 17976958"/>
              <a:gd name="adj2" fmla="val 981254"/>
            </a:avLst>
          </a:prstGeom>
          <a:ln w="50800">
            <a:solidFill>
              <a:srgbClr val="FF0000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F8B8A6-7706-3A01-5478-C85515F1E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9439"/>
          </a:xfrm>
        </p:spPr>
        <p:txBody>
          <a:bodyPr/>
          <a:lstStyle/>
          <a:p>
            <a:r>
              <a:rPr lang="en-US" dirty="0"/>
              <a:t>In-Game Camera</a:t>
            </a:r>
          </a:p>
        </p:txBody>
      </p:sp>
      <p:pic>
        <p:nvPicPr>
          <p:cNvPr id="1026" name="Picture 2" descr="Amazon.com: Microsoft Xbox One Wireless Video Gaming Controller, White  (Renewed) : Video Games">
            <a:extLst>
              <a:ext uri="{FF2B5EF4-FFF2-40B4-BE49-F238E27FC236}">
                <a16:creationId xmlns:a16="http://schemas.microsoft.com/office/drawing/2014/main" id="{ED914AE0-254B-C744-EE24-2CD2B04D96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9233" y="3722325"/>
            <a:ext cx="2907792" cy="2907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rc 9">
            <a:extLst>
              <a:ext uri="{FF2B5EF4-FFF2-40B4-BE49-F238E27FC236}">
                <a16:creationId xmlns:a16="http://schemas.microsoft.com/office/drawing/2014/main" id="{C65D2233-9D53-350D-F66F-1CAC116EFEA1}"/>
              </a:ext>
            </a:extLst>
          </p:cNvPr>
          <p:cNvSpPr/>
          <p:nvPr/>
        </p:nvSpPr>
        <p:spPr>
          <a:xfrm flipV="1">
            <a:off x="2591049" y="2473919"/>
            <a:ext cx="2656228" cy="232336"/>
          </a:xfrm>
          <a:prstGeom prst="arc">
            <a:avLst>
              <a:gd name="adj1" fmla="val 242455"/>
              <a:gd name="adj2" fmla="val 14500188"/>
            </a:avLst>
          </a:prstGeom>
          <a:ln w="50800">
            <a:solidFill>
              <a:srgbClr val="00FF00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94E6DF7-A049-A866-6920-F1015A444BF6}"/>
              </a:ext>
            </a:extLst>
          </p:cNvPr>
          <p:cNvGrpSpPr/>
          <p:nvPr/>
        </p:nvGrpSpPr>
        <p:grpSpPr>
          <a:xfrm>
            <a:off x="10026186" y="5075960"/>
            <a:ext cx="824925" cy="1154"/>
            <a:chOff x="10026186" y="5075960"/>
            <a:chExt cx="824925" cy="1154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F144C37-97D9-FB1B-EC96-B4C23AAF4389}"/>
                </a:ext>
              </a:extLst>
            </p:cNvPr>
            <p:cNvCxnSpPr/>
            <p:nvPr/>
          </p:nvCxnSpPr>
          <p:spPr>
            <a:xfrm>
              <a:off x="10576791" y="5077114"/>
              <a:ext cx="274320" cy="0"/>
            </a:xfrm>
            <a:prstGeom prst="straightConnector1">
              <a:avLst/>
            </a:prstGeom>
            <a:ln w="50800">
              <a:solidFill>
                <a:srgbClr val="00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9AF5C708-67D1-4752-F406-5C9C817469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26186" y="5075960"/>
              <a:ext cx="274320" cy="0"/>
            </a:xfrm>
            <a:prstGeom prst="straightConnector1">
              <a:avLst/>
            </a:prstGeom>
            <a:ln w="50800">
              <a:solidFill>
                <a:srgbClr val="00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Graphic 3" descr="Video camera with solid fill">
            <a:extLst>
              <a:ext uri="{FF2B5EF4-FFF2-40B4-BE49-F238E27FC236}">
                <a16:creationId xmlns:a16="http://schemas.microsoft.com/office/drawing/2014/main" id="{FE7E9E6F-55EC-8334-EC99-D55E9AB8C9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8835002" flipH="1">
            <a:off x="4568211" y="1982581"/>
            <a:ext cx="869823" cy="914400"/>
          </a:xfrm>
          <a:prstGeom prst="rect">
            <a:avLst/>
          </a:prstGeom>
        </p:spPr>
      </p:pic>
      <p:sp>
        <p:nvSpPr>
          <p:cNvPr id="12" name="Arc 11">
            <a:extLst>
              <a:ext uri="{FF2B5EF4-FFF2-40B4-BE49-F238E27FC236}">
                <a16:creationId xmlns:a16="http://schemas.microsoft.com/office/drawing/2014/main" id="{03BAC317-E2F9-8FA2-FFDC-696AC5AD5920}"/>
              </a:ext>
            </a:extLst>
          </p:cNvPr>
          <p:cNvSpPr/>
          <p:nvPr/>
        </p:nvSpPr>
        <p:spPr>
          <a:xfrm flipV="1">
            <a:off x="2591049" y="2473919"/>
            <a:ext cx="2656228" cy="232336"/>
          </a:xfrm>
          <a:prstGeom prst="arc">
            <a:avLst>
              <a:gd name="adj1" fmla="val 18288197"/>
              <a:gd name="adj2" fmla="val 59620"/>
            </a:avLst>
          </a:prstGeom>
          <a:ln w="50800">
            <a:solidFill>
              <a:srgbClr val="00FF00"/>
            </a:solidFill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563CB9-D091-D4F8-2912-DDDD9C6ADC40}"/>
              </a:ext>
            </a:extLst>
          </p:cNvPr>
          <p:cNvSpPr txBox="1"/>
          <p:nvPr/>
        </p:nvSpPr>
        <p:spPr>
          <a:xfrm>
            <a:off x="553211" y="1084564"/>
            <a:ext cx="4660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Spherical Polar Coordinates</a:t>
            </a:r>
          </a:p>
        </p:txBody>
      </p:sp>
      <p:pic>
        <p:nvPicPr>
          <p:cNvPr id="9" name="Graphic 8" descr="Video camera with solid fill">
            <a:extLst>
              <a:ext uri="{FF2B5EF4-FFF2-40B4-BE49-F238E27FC236}">
                <a16:creationId xmlns:a16="http://schemas.microsoft.com/office/drawing/2014/main" id="{A3E32E96-FC5C-9FC6-5CD5-13173249EA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7981323" flipH="1">
            <a:off x="4091817" y="1944516"/>
            <a:ext cx="869823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651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489AB-DC87-207F-EE40-3EA6EEB46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4C32E4A1-EC87-05C3-3558-52C1A35D85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509" y="1771309"/>
            <a:ext cx="7392432" cy="4877481"/>
          </a:xfrm>
          <a:prstGeom prst="rect">
            <a:avLst/>
          </a:prstGeom>
        </p:spPr>
      </p:pic>
      <p:sp>
        <p:nvSpPr>
          <p:cNvPr id="5" name="Arc 4">
            <a:extLst>
              <a:ext uri="{FF2B5EF4-FFF2-40B4-BE49-F238E27FC236}">
                <a16:creationId xmlns:a16="http://schemas.microsoft.com/office/drawing/2014/main" id="{E4190D2D-8D13-7472-A4B6-4289E6B5287F}"/>
              </a:ext>
            </a:extLst>
          </p:cNvPr>
          <p:cNvSpPr/>
          <p:nvPr/>
        </p:nvSpPr>
        <p:spPr>
          <a:xfrm>
            <a:off x="1565459" y="2074976"/>
            <a:ext cx="4188385" cy="4877482"/>
          </a:xfrm>
          <a:prstGeom prst="arc">
            <a:avLst>
              <a:gd name="adj1" fmla="val 17976958"/>
              <a:gd name="adj2" fmla="val 21131481"/>
            </a:avLst>
          </a:prstGeom>
          <a:ln w="50800">
            <a:solidFill>
              <a:srgbClr val="FF0000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2B3544-A34E-87B6-F076-BDB4671ED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9439"/>
          </a:xfrm>
        </p:spPr>
        <p:txBody>
          <a:bodyPr/>
          <a:lstStyle/>
          <a:p>
            <a:r>
              <a:rPr lang="en-US" dirty="0"/>
              <a:t>In-Game Camera</a:t>
            </a:r>
          </a:p>
        </p:txBody>
      </p:sp>
      <p:pic>
        <p:nvPicPr>
          <p:cNvPr id="1026" name="Picture 2" descr="Amazon.com: Microsoft Xbox One Wireless Video Gaming Controller, White  (Renewed) : Video Games">
            <a:extLst>
              <a:ext uri="{FF2B5EF4-FFF2-40B4-BE49-F238E27FC236}">
                <a16:creationId xmlns:a16="http://schemas.microsoft.com/office/drawing/2014/main" id="{065AFB46-CCCB-86D1-87EF-474C131D94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9233" y="3722325"/>
            <a:ext cx="2907792" cy="2907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rc 9">
            <a:extLst>
              <a:ext uri="{FF2B5EF4-FFF2-40B4-BE49-F238E27FC236}">
                <a16:creationId xmlns:a16="http://schemas.microsoft.com/office/drawing/2014/main" id="{57681F96-E012-BE31-BFFA-907F70A6665B}"/>
              </a:ext>
            </a:extLst>
          </p:cNvPr>
          <p:cNvSpPr/>
          <p:nvPr/>
        </p:nvSpPr>
        <p:spPr>
          <a:xfrm flipV="1">
            <a:off x="2591049" y="2473919"/>
            <a:ext cx="2656228" cy="232336"/>
          </a:xfrm>
          <a:prstGeom prst="arc">
            <a:avLst>
              <a:gd name="adj1" fmla="val 632198"/>
              <a:gd name="adj2" fmla="val 14500188"/>
            </a:avLst>
          </a:prstGeom>
          <a:ln w="50800">
            <a:solidFill>
              <a:srgbClr val="00FF00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ACB494A-79EA-EBB1-5A55-D86C13C58C24}"/>
              </a:ext>
            </a:extLst>
          </p:cNvPr>
          <p:cNvGrpSpPr/>
          <p:nvPr/>
        </p:nvGrpSpPr>
        <p:grpSpPr>
          <a:xfrm>
            <a:off x="10026186" y="5075960"/>
            <a:ext cx="824925" cy="1154"/>
            <a:chOff x="10026186" y="5075960"/>
            <a:chExt cx="824925" cy="1154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3136E83-3B8C-3644-DC08-4E633437BD3D}"/>
                </a:ext>
              </a:extLst>
            </p:cNvPr>
            <p:cNvCxnSpPr/>
            <p:nvPr/>
          </p:nvCxnSpPr>
          <p:spPr>
            <a:xfrm>
              <a:off x="10576791" y="5077114"/>
              <a:ext cx="274320" cy="0"/>
            </a:xfrm>
            <a:prstGeom prst="straightConnector1">
              <a:avLst/>
            </a:prstGeom>
            <a:ln w="50800">
              <a:solidFill>
                <a:srgbClr val="00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B800C1D-2350-91C4-D73B-D8183826F8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26186" y="5075960"/>
              <a:ext cx="274320" cy="0"/>
            </a:xfrm>
            <a:prstGeom prst="straightConnector1">
              <a:avLst/>
            </a:prstGeom>
            <a:ln w="50800">
              <a:solidFill>
                <a:srgbClr val="00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597F134-391F-9F68-4A21-AA866D425142}"/>
              </a:ext>
            </a:extLst>
          </p:cNvPr>
          <p:cNvGrpSpPr/>
          <p:nvPr/>
        </p:nvGrpSpPr>
        <p:grpSpPr>
          <a:xfrm>
            <a:off x="10442227" y="4691029"/>
            <a:ext cx="0" cy="759512"/>
            <a:chOff x="10442227" y="4691029"/>
            <a:chExt cx="0" cy="759512"/>
          </a:xfrm>
        </p:grpSpPr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726F16F-B4BA-D4C0-7FD2-7ADF0A737E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42227" y="4691029"/>
              <a:ext cx="0" cy="274320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5B166115-ADBF-86A9-FA02-DB80D38EF3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42227" y="5176221"/>
              <a:ext cx="0" cy="274320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85523DE-0A97-55A1-D873-E16FB71C3F5B}"/>
              </a:ext>
            </a:extLst>
          </p:cNvPr>
          <p:cNvSpPr txBox="1"/>
          <p:nvPr/>
        </p:nvSpPr>
        <p:spPr>
          <a:xfrm>
            <a:off x="553211" y="1084564"/>
            <a:ext cx="4660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Spherical Polar Coordinates</a:t>
            </a:r>
          </a:p>
        </p:txBody>
      </p:sp>
      <p:pic>
        <p:nvPicPr>
          <p:cNvPr id="9" name="Graphic 8" descr="Video camera with solid fill">
            <a:extLst>
              <a:ext uri="{FF2B5EF4-FFF2-40B4-BE49-F238E27FC236}">
                <a16:creationId xmlns:a16="http://schemas.microsoft.com/office/drawing/2014/main" id="{5C98A489-B30A-AA54-1186-4D21730F7F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7981323" flipH="1">
            <a:off x="4091817" y="1944516"/>
            <a:ext cx="869823" cy="914400"/>
          </a:xfrm>
          <a:prstGeom prst="rect">
            <a:avLst/>
          </a:prstGeom>
        </p:spPr>
      </p:pic>
      <p:sp>
        <p:nvSpPr>
          <p:cNvPr id="3" name="Arc 2">
            <a:extLst>
              <a:ext uri="{FF2B5EF4-FFF2-40B4-BE49-F238E27FC236}">
                <a16:creationId xmlns:a16="http://schemas.microsoft.com/office/drawing/2014/main" id="{BA662F32-B413-F07C-D328-F15690CD6030}"/>
              </a:ext>
            </a:extLst>
          </p:cNvPr>
          <p:cNvSpPr/>
          <p:nvPr/>
        </p:nvSpPr>
        <p:spPr>
          <a:xfrm flipV="1">
            <a:off x="1565568" y="4151746"/>
            <a:ext cx="4877482" cy="426625"/>
          </a:xfrm>
          <a:prstGeom prst="arc">
            <a:avLst>
              <a:gd name="adj1" fmla="val 9002688"/>
              <a:gd name="adj2" fmla="val 1656349"/>
            </a:avLst>
          </a:prstGeom>
          <a:ln w="50800">
            <a:solidFill>
              <a:srgbClr val="00FF00"/>
            </a:solidFill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45CE739-CCCF-416A-2230-85E8FF3AD900}"/>
              </a:ext>
            </a:extLst>
          </p:cNvPr>
          <p:cNvCxnSpPr/>
          <p:nvPr/>
        </p:nvCxnSpPr>
        <p:spPr>
          <a:xfrm>
            <a:off x="4004309" y="4365058"/>
            <a:ext cx="2438741" cy="0"/>
          </a:xfrm>
          <a:prstGeom prst="straightConnector1">
            <a:avLst/>
          </a:prstGeom>
          <a:ln w="38100">
            <a:solidFill>
              <a:srgbClr val="0000F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B372DEA-F6B1-7E1E-40CF-64706491682D}"/>
              </a:ext>
            </a:extLst>
          </p:cNvPr>
          <p:cNvCxnSpPr>
            <a:cxnSpLocks/>
          </p:cNvCxnSpPr>
          <p:nvPr/>
        </p:nvCxnSpPr>
        <p:spPr>
          <a:xfrm flipV="1">
            <a:off x="4004309" y="4210049"/>
            <a:ext cx="1749535" cy="155009"/>
          </a:xfrm>
          <a:prstGeom prst="straightConnector1">
            <a:avLst/>
          </a:prstGeom>
          <a:ln w="38100">
            <a:solidFill>
              <a:srgbClr val="0000F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8FA713-1C95-8754-10CC-D6E064EEE54C}"/>
              </a:ext>
            </a:extLst>
          </p:cNvPr>
          <p:cNvCxnSpPr>
            <a:cxnSpLocks/>
          </p:cNvCxnSpPr>
          <p:nvPr/>
        </p:nvCxnSpPr>
        <p:spPr>
          <a:xfrm flipV="1">
            <a:off x="4004309" y="2473918"/>
            <a:ext cx="660055" cy="1891140"/>
          </a:xfrm>
          <a:prstGeom prst="straightConnector1">
            <a:avLst/>
          </a:prstGeom>
          <a:ln w="38100">
            <a:solidFill>
              <a:srgbClr val="7030A0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Arc 19">
            <a:extLst>
              <a:ext uri="{FF2B5EF4-FFF2-40B4-BE49-F238E27FC236}">
                <a16:creationId xmlns:a16="http://schemas.microsoft.com/office/drawing/2014/main" id="{E0ED8952-238E-82C9-B36E-4F29B571B864}"/>
              </a:ext>
            </a:extLst>
          </p:cNvPr>
          <p:cNvSpPr/>
          <p:nvPr/>
        </p:nvSpPr>
        <p:spPr>
          <a:xfrm>
            <a:off x="3219171" y="3136849"/>
            <a:ext cx="1570167" cy="1828500"/>
          </a:xfrm>
          <a:prstGeom prst="arc">
            <a:avLst>
              <a:gd name="adj1" fmla="val 17798703"/>
              <a:gd name="adj2" fmla="val 981254"/>
            </a:avLst>
          </a:prstGeom>
          <a:ln w="38100">
            <a:solidFill>
              <a:srgbClr val="FF0000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74388467-2B63-3077-4F92-B67E67D885F4}"/>
              </a:ext>
            </a:extLst>
          </p:cNvPr>
          <p:cNvSpPr/>
          <p:nvPr/>
        </p:nvSpPr>
        <p:spPr>
          <a:xfrm flipV="1">
            <a:off x="876352" y="4131921"/>
            <a:ext cx="4877492" cy="426626"/>
          </a:xfrm>
          <a:prstGeom prst="arc">
            <a:avLst>
              <a:gd name="adj1" fmla="val 21558609"/>
              <a:gd name="adj2" fmla="val 183998"/>
            </a:avLst>
          </a:prstGeom>
          <a:ln w="38100">
            <a:solidFill>
              <a:srgbClr val="00FF00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1BF8C4AD-BF77-D53F-FF6A-F18EEF4BC518}"/>
              </a:ext>
            </a:extLst>
          </p:cNvPr>
          <p:cNvSpPr/>
          <p:nvPr/>
        </p:nvSpPr>
        <p:spPr>
          <a:xfrm flipV="1">
            <a:off x="2591049" y="2473919"/>
            <a:ext cx="2656228" cy="232336"/>
          </a:xfrm>
          <a:prstGeom prst="arc">
            <a:avLst>
              <a:gd name="adj1" fmla="val 18288197"/>
              <a:gd name="adj2" fmla="val 342947"/>
            </a:avLst>
          </a:prstGeom>
          <a:ln w="50800">
            <a:solidFill>
              <a:srgbClr val="00FF00"/>
            </a:solidFill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528E68-D982-119E-5931-9BDDECA74FFF}"/>
                  </a:ext>
                </a:extLst>
              </p:cNvPr>
              <p:cNvSpPr txBox="1"/>
              <p:nvPr/>
            </p:nvSpPr>
            <p:spPr>
              <a:xfrm>
                <a:off x="6096000" y="3917717"/>
                <a:ext cx="30296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b="0" i="1" smtClean="0">
                          <a:solidFill>
                            <a:srgbClr val="00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</m:oMath>
                  </m:oMathPara>
                </a14:m>
                <a:endParaRPr lang="en-US" sz="2400" b="0" dirty="0">
                  <a:solidFill>
                    <a:srgbClr val="00FF00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528E68-D982-119E-5931-9BDDECA74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917717"/>
                <a:ext cx="302967" cy="369332"/>
              </a:xfrm>
              <a:prstGeom prst="rect">
                <a:avLst/>
              </a:prstGeom>
              <a:blipFill>
                <a:blip r:embed="rId6"/>
                <a:stretch>
                  <a:fillRect l="-24000" r="-22000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6DF4C55-4E0F-4377-63F8-1C6C01CAC36D}"/>
                  </a:ext>
                </a:extLst>
              </p:cNvPr>
              <p:cNvSpPr txBox="1"/>
              <p:nvPr/>
            </p:nvSpPr>
            <p:spPr>
              <a:xfrm>
                <a:off x="4715734" y="3312709"/>
                <a:ext cx="24468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6DF4C55-4E0F-4377-63F8-1C6C01CAC3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5734" y="3312709"/>
                <a:ext cx="244682" cy="369332"/>
              </a:xfrm>
              <a:prstGeom prst="rect">
                <a:avLst/>
              </a:prstGeom>
              <a:blipFill>
                <a:blip r:embed="rId7"/>
                <a:stretch>
                  <a:fillRect l="-32500" r="-25000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C352917-A67C-7F52-552B-2C83982F2F71}"/>
                  </a:ext>
                </a:extLst>
              </p:cNvPr>
              <p:cNvSpPr txBox="1"/>
              <p:nvPr/>
            </p:nvSpPr>
            <p:spPr>
              <a:xfrm>
                <a:off x="3995885" y="3323395"/>
                <a:ext cx="25019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sz="2400" dirty="0">
                  <a:solidFill>
                    <a:srgbClr val="7030A0"/>
                  </a:solidFill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C352917-A67C-7F52-552B-2C83982F2F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885" y="3323395"/>
                <a:ext cx="250197" cy="369332"/>
              </a:xfrm>
              <a:prstGeom prst="rect">
                <a:avLst/>
              </a:prstGeom>
              <a:blipFill>
                <a:blip r:embed="rId8"/>
                <a:stretch>
                  <a:fillRect l="-30952" r="-23810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6395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5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20" grpId="0" animBg="1"/>
      <p:bldP spid="21" grpId="0" animBg="1"/>
      <p:bldP spid="22" grpId="0"/>
      <p:bldP spid="23" grpId="0"/>
      <p:bldP spid="2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9F5D8-4F8A-7508-54C0-432D8F7B5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46FE4-C007-1C1F-78AB-BD065EC2F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9439"/>
          </a:xfrm>
        </p:spPr>
        <p:txBody>
          <a:bodyPr/>
          <a:lstStyle/>
          <a:p>
            <a:r>
              <a:rPr lang="en-US" dirty="0"/>
              <a:t>Spherical Polar Coordinates</a:t>
            </a:r>
          </a:p>
        </p:txBody>
      </p:sp>
      <p:pic>
        <p:nvPicPr>
          <p:cNvPr id="4" name="Graphic 3" descr="Rocket with solid fill">
            <a:extLst>
              <a:ext uri="{FF2B5EF4-FFF2-40B4-BE49-F238E27FC236}">
                <a16:creationId xmlns:a16="http://schemas.microsoft.com/office/drawing/2014/main" id="{50F1F423-5835-D7E1-098B-C00953EF93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10152644" y="1848115"/>
            <a:ext cx="378632" cy="378632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D378BD4-1033-D081-5267-652DE6250A86}"/>
              </a:ext>
            </a:extLst>
          </p:cNvPr>
          <p:cNvCxnSpPr>
            <a:cxnSpLocks/>
          </p:cNvCxnSpPr>
          <p:nvPr/>
        </p:nvCxnSpPr>
        <p:spPr>
          <a:xfrm>
            <a:off x="7131881" y="1587756"/>
            <a:ext cx="0" cy="458632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B387C01-39D8-CFDD-F40E-B9C2D0154206}"/>
              </a:ext>
            </a:extLst>
          </p:cNvPr>
          <p:cNvCxnSpPr>
            <a:cxnSpLocks/>
          </p:cNvCxnSpPr>
          <p:nvPr/>
        </p:nvCxnSpPr>
        <p:spPr>
          <a:xfrm>
            <a:off x="5409613" y="4815797"/>
            <a:ext cx="545506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36EA2CF-7966-37F5-2953-A4A12D13D5D3}"/>
              </a:ext>
            </a:extLst>
          </p:cNvPr>
          <p:cNvCxnSpPr>
            <a:cxnSpLocks/>
          </p:cNvCxnSpPr>
          <p:nvPr/>
        </p:nvCxnSpPr>
        <p:spPr>
          <a:xfrm flipV="1">
            <a:off x="5856525" y="3791460"/>
            <a:ext cx="3419412" cy="162818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5F3ACA2-E5D1-A7A1-ED65-C11019313338}"/>
              </a:ext>
            </a:extLst>
          </p:cNvPr>
          <p:cNvCxnSpPr>
            <a:cxnSpLocks/>
          </p:cNvCxnSpPr>
          <p:nvPr/>
        </p:nvCxnSpPr>
        <p:spPr>
          <a:xfrm flipV="1">
            <a:off x="7131881" y="4193788"/>
            <a:ext cx="3139561" cy="622008"/>
          </a:xfrm>
          <a:prstGeom prst="line">
            <a:avLst/>
          </a:prstGeom>
          <a:ln w="1905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BAC2FBE-F717-31C7-56D9-6A438A7756C8}"/>
              </a:ext>
            </a:extLst>
          </p:cNvPr>
          <p:cNvCxnSpPr>
            <a:cxnSpLocks/>
          </p:cNvCxnSpPr>
          <p:nvPr/>
        </p:nvCxnSpPr>
        <p:spPr>
          <a:xfrm flipV="1">
            <a:off x="10271442" y="2039003"/>
            <a:ext cx="0" cy="2154785"/>
          </a:xfrm>
          <a:prstGeom prst="line">
            <a:avLst/>
          </a:prstGeom>
          <a:ln w="12700">
            <a:solidFill>
              <a:srgbClr val="00B05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4E4E462-2A5A-F326-4447-C251A0592571}"/>
              </a:ext>
            </a:extLst>
          </p:cNvPr>
          <p:cNvCxnSpPr>
            <a:cxnSpLocks/>
          </p:cNvCxnSpPr>
          <p:nvPr/>
        </p:nvCxnSpPr>
        <p:spPr>
          <a:xfrm flipV="1">
            <a:off x="7131880" y="2039003"/>
            <a:ext cx="3141175" cy="2776793"/>
          </a:xfrm>
          <a:prstGeom prst="line">
            <a:avLst/>
          </a:prstGeom>
          <a:ln w="19050">
            <a:solidFill>
              <a:srgbClr val="7030A0"/>
            </a:solidFill>
            <a:prstDash val="soli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B04CF26-30D0-4B4E-CDC4-C193E475E99B}"/>
              </a:ext>
            </a:extLst>
          </p:cNvPr>
          <p:cNvCxnSpPr>
            <a:cxnSpLocks/>
          </p:cNvCxnSpPr>
          <p:nvPr/>
        </p:nvCxnSpPr>
        <p:spPr>
          <a:xfrm flipH="1">
            <a:off x="8414083" y="4199236"/>
            <a:ext cx="1860171" cy="0"/>
          </a:xfrm>
          <a:prstGeom prst="line">
            <a:avLst/>
          </a:prstGeom>
          <a:ln w="127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4DB8F4E-E5C2-17C0-C0CC-982BD351F274}"/>
              </a:ext>
            </a:extLst>
          </p:cNvPr>
          <p:cNvCxnSpPr>
            <a:cxnSpLocks/>
          </p:cNvCxnSpPr>
          <p:nvPr/>
        </p:nvCxnSpPr>
        <p:spPr>
          <a:xfrm flipV="1">
            <a:off x="8968819" y="4193787"/>
            <a:ext cx="1302623" cy="620253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1D3EBAE-D3E5-36BC-E97E-5994C46E9635}"/>
                  </a:ext>
                </a:extLst>
              </p:cNvPr>
              <p:cNvSpPr txBox="1"/>
              <p:nvPr/>
            </p:nvSpPr>
            <p:spPr>
              <a:xfrm>
                <a:off x="10408169" y="1644557"/>
                <a:ext cx="2124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1D3EBAE-D3E5-36BC-E97E-5994C46E96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8169" y="1644557"/>
                <a:ext cx="212430" cy="276999"/>
              </a:xfrm>
              <a:prstGeom prst="rect">
                <a:avLst/>
              </a:prstGeom>
              <a:blipFill>
                <a:blip r:embed="rId4"/>
                <a:stretch>
                  <a:fillRect l="-22857" r="-22857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008BE9F-3581-4D43-50B8-327995213A40}"/>
                  </a:ext>
                </a:extLst>
              </p:cNvPr>
              <p:cNvSpPr txBox="1"/>
              <p:nvPr/>
            </p:nvSpPr>
            <p:spPr>
              <a:xfrm>
                <a:off x="9344991" y="3888130"/>
                <a:ext cx="2751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008BE9F-3581-4D43-50B8-327995213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4991" y="3888130"/>
                <a:ext cx="275139" cy="276999"/>
              </a:xfrm>
              <a:prstGeom prst="rect">
                <a:avLst/>
              </a:prstGeom>
              <a:blipFill>
                <a:blip r:embed="rId5"/>
                <a:stretch>
                  <a:fillRect l="-20000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8EEAF67-4B90-BF67-3357-4EAB0E58739D}"/>
                  </a:ext>
                </a:extLst>
              </p:cNvPr>
              <p:cNvSpPr txBox="1"/>
              <p:nvPr/>
            </p:nvSpPr>
            <p:spPr>
              <a:xfrm>
                <a:off x="10293725" y="3020301"/>
                <a:ext cx="282770" cy="2989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8EEAF67-4B90-BF67-3357-4EAB0E5873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3725" y="3020301"/>
                <a:ext cx="282770" cy="298928"/>
              </a:xfrm>
              <a:prstGeom prst="rect">
                <a:avLst/>
              </a:prstGeom>
              <a:blipFill>
                <a:blip r:embed="rId6"/>
                <a:stretch>
                  <a:fillRect l="-19565" r="-4348" b="-20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315A55D-B9B2-8D05-C504-95054A7BCEE1}"/>
                  </a:ext>
                </a:extLst>
              </p:cNvPr>
              <p:cNvSpPr txBox="1"/>
              <p:nvPr/>
            </p:nvSpPr>
            <p:spPr>
              <a:xfrm>
                <a:off x="9757699" y="4403317"/>
                <a:ext cx="26475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315A55D-B9B2-8D05-C504-95054A7BCE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7699" y="4403317"/>
                <a:ext cx="264752" cy="276999"/>
              </a:xfrm>
              <a:prstGeom prst="rect">
                <a:avLst/>
              </a:prstGeom>
              <a:blipFill>
                <a:blip r:embed="rId7"/>
                <a:stretch>
                  <a:fillRect l="-20930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Arc 31">
            <a:extLst>
              <a:ext uri="{FF2B5EF4-FFF2-40B4-BE49-F238E27FC236}">
                <a16:creationId xmlns:a16="http://schemas.microsoft.com/office/drawing/2014/main" id="{4EEC32C7-A73C-A736-C304-7F2C40BA01E3}"/>
              </a:ext>
            </a:extLst>
          </p:cNvPr>
          <p:cNvSpPr/>
          <p:nvPr/>
        </p:nvSpPr>
        <p:spPr>
          <a:xfrm>
            <a:off x="5244839" y="2930371"/>
            <a:ext cx="3770857" cy="3770857"/>
          </a:xfrm>
          <a:prstGeom prst="arc">
            <a:avLst>
              <a:gd name="adj1" fmla="val 19140031"/>
              <a:gd name="adj2" fmla="val 20952757"/>
            </a:avLst>
          </a:prstGeom>
          <a:ln>
            <a:solidFill>
              <a:srgbClr val="00B050"/>
            </a:solidFill>
            <a:headEnd type="triangle" w="lg" len="lg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c 34">
            <a:extLst>
              <a:ext uri="{FF2B5EF4-FFF2-40B4-BE49-F238E27FC236}">
                <a16:creationId xmlns:a16="http://schemas.microsoft.com/office/drawing/2014/main" id="{CDB131ED-C939-3E2C-56DC-3660E2156ACD}"/>
              </a:ext>
            </a:extLst>
          </p:cNvPr>
          <p:cNvSpPr/>
          <p:nvPr/>
        </p:nvSpPr>
        <p:spPr>
          <a:xfrm>
            <a:off x="5512102" y="4045128"/>
            <a:ext cx="3233261" cy="1541338"/>
          </a:xfrm>
          <a:prstGeom prst="arc">
            <a:avLst>
              <a:gd name="adj1" fmla="val 20099205"/>
              <a:gd name="adj2" fmla="val 20930158"/>
            </a:avLst>
          </a:prstGeom>
          <a:ln>
            <a:solidFill>
              <a:srgbClr val="FF0000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DA9979F-F9DB-021C-5A6E-8B8537CF44DA}"/>
                  </a:ext>
                </a:extLst>
              </p:cNvPr>
              <p:cNvSpPr txBox="1"/>
              <p:nvPr/>
            </p:nvSpPr>
            <p:spPr>
              <a:xfrm>
                <a:off x="8701661" y="3542505"/>
                <a:ext cx="2006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DA9979F-F9DB-021C-5A6E-8B8537CF44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1661" y="3542505"/>
                <a:ext cx="200696" cy="276999"/>
              </a:xfrm>
              <a:prstGeom prst="rect">
                <a:avLst/>
              </a:prstGeom>
              <a:blipFill>
                <a:blip r:embed="rId8"/>
                <a:stretch>
                  <a:fillRect l="-24242" r="-21212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F664BBE-37FC-C405-24F7-18ED4F30948A}"/>
                  </a:ext>
                </a:extLst>
              </p:cNvPr>
              <p:cNvSpPr txBox="1"/>
              <p:nvPr/>
            </p:nvSpPr>
            <p:spPr>
              <a:xfrm>
                <a:off x="8137144" y="4315247"/>
                <a:ext cx="2452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</m:oMath>
                  </m:oMathPara>
                </a14:m>
                <a:endParaRPr lang="en-US" sz="1800" b="0" dirty="0">
                  <a:solidFill>
                    <a:srgbClr val="00B050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F664BBE-37FC-C405-24F7-18ED4F3094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7144" y="4315247"/>
                <a:ext cx="245259" cy="276999"/>
              </a:xfrm>
              <a:prstGeom prst="rect">
                <a:avLst/>
              </a:prstGeom>
              <a:blipFill>
                <a:blip r:embed="rId9"/>
                <a:stretch>
                  <a:fillRect l="-22500" r="-2000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8C77867-9F01-6921-6CC2-4049A96688CE}"/>
                  </a:ext>
                </a:extLst>
              </p:cNvPr>
              <p:cNvSpPr txBox="1"/>
              <p:nvPr/>
            </p:nvSpPr>
            <p:spPr>
              <a:xfrm>
                <a:off x="8924224" y="2776732"/>
                <a:ext cx="2044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solidFill>
                    <a:srgbClr val="7030A0"/>
                  </a:solidFill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8C77867-9F01-6921-6CC2-4049A9668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224" y="2776732"/>
                <a:ext cx="204479" cy="276999"/>
              </a:xfrm>
              <a:prstGeom prst="rect">
                <a:avLst/>
              </a:prstGeom>
              <a:blipFill>
                <a:blip r:embed="rId10"/>
                <a:stretch>
                  <a:fillRect l="-27273" r="-24242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B968A02-A622-980F-8046-068EE40DEB64}"/>
                  </a:ext>
                </a:extLst>
              </p:cNvPr>
              <p:cNvSpPr txBox="1"/>
              <p:nvPr/>
            </p:nvSpPr>
            <p:spPr>
              <a:xfrm>
                <a:off x="8710875" y="4441513"/>
                <a:ext cx="3995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𝑥𝑧</m:t>
                          </m:r>
                        </m:sub>
                      </m:sSub>
                    </m:oMath>
                  </m:oMathPara>
                </a14:m>
                <a:endParaRPr lang="en-US" sz="18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B968A02-A622-980F-8046-068EE40DE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0875" y="4441513"/>
                <a:ext cx="399597" cy="276999"/>
              </a:xfrm>
              <a:prstGeom prst="rect">
                <a:avLst/>
              </a:prstGeom>
              <a:blipFill>
                <a:blip r:embed="rId11"/>
                <a:stretch>
                  <a:fillRect l="-13636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D6966A1D-C447-6400-A116-977A797D378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7031" y="1321403"/>
                <a:ext cx="4564553" cy="5121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91425" tIns="91425" rIns="91425" bIns="91425" anchor="t" anchorCtr="0"/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342900" marR="0" lvl="0" indent="-190500" algn="l" rtl="0">
                  <a:lnSpc>
                    <a:spcPct val="100000"/>
                  </a:lnSpc>
                  <a:spcBef>
                    <a:spcPts val="480"/>
                  </a:spcBef>
                  <a:spcAft>
                    <a:spcPts val="0"/>
                  </a:spcAft>
                  <a:buClr>
                    <a:srgbClr val="000000"/>
                  </a:buClr>
                  <a:buSzPct val="100000"/>
                  <a:buFont typeface="Arial"/>
                  <a:buChar char="•"/>
                  <a:defRPr sz="24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marL="742950" marR="0" lvl="1" indent="-158750" algn="l" rtl="0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Clr>
                    <a:srgbClr val="000000"/>
                  </a:buClr>
                  <a:buSzPct val="100000"/>
                  <a:buFont typeface="Arial"/>
                  <a:buChar char="–"/>
                  <a:defRPr sz="20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marL="1143000" marR="0" lvl="2" indent="-114300" algn="l" rtl="0">
                  <a:lnSpc>
                    <a:spcPct val="100000"/>
                  </a:lnSpc>
                  <a:spcBef>
                    <a:spcPts val="360"/>
                  </a:spcBef>
                  <a:spcAft>
                    <a:spcPts val="0"/>
                  </a:spcAft>
                  <a:buClr>
                    <a:srgbClr val="000000"/>
                  </a:buClr>
                  <a:buSzPct val="100000"/>
                  <a:buFont typeface="Arial"/>
                  <a:buChar char="•"/>
                  <a:def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marL="1600200" marR="0" lvl="3" indent="-127000" algn="l" rtl="0">
                  <a:lnSpc>
                    <a:spcPct val="100000"/>
                  </a:lnSpc>
                  <a:spcBef>
                    <a:spcPts val="320"/>
                  </a:spcBef>
                  <a:spcAft>
                    <a:spcPts val="0"/>
                  </a:spcAft>
                  <a:buClr>
                    <a:srgbClr val="000000"/>
                  </a:buClr>
                  <a:buSzPct val="100000"/>
                  <a:buFont typeface="Arial"/>
                  <a:buChar char="–"/>
                  <a:defRPr sz="16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marL="2057400" marR="0" lvl="4" indent="-127000" algn="l" rtl="0">
                  <a:lnSpc>
                    <a:spcPct val="100000"/>
                  </a:lnSpc>
                  <a:spcBef>
                    <a:spcPts val="320"/>
                  </a:spcBef>
                  <a:spcAft>
                    <a:spcPts val="0"/>
                  </a:spcAft>
                  <a:buClr>
                    <a:srgbClr val="000000"/>
                  </a:buClr>
                  <a:buSzPct val="100000"/>
                  <a:buFont typeface="Arial"/>
                  <a:buChar char="»"/>
                  <a:defRPr sz="16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marL="2514600" marR="0" lvl="5" indent="-101600" algn="l" rtl="0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Clr>
                    <a:schemeClr val="dk1"/>
                  </a:buClr>
                  <a:buSzPct val="1000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marL="2971800" marR="0" lvl="6" indent="-101600" algn="l" rtl="0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Clr>
                    <a:schemeClr val="dk1"/>
                  </a:buClr>
                  <a:buSzPct val="1000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marL="3429000" marR="0" lvl="7" indent="-101600" algn="l" rtl="0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Clr>
                    <a:schemeClr val="dk1"/>
                  </a:buClr>
                  <a:buSzPct val="1000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marL="3886200" marR="0" lvl="8" indent="-101600" algn="l" rtl="0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Clr>
                    <a:schemeClr val="dk1"/>
                  </a:buClr>
                  <a:buSzPct val="1000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indent="-342900">
                  <a:spcBef>
                    <a:spcPts val="0"/>
                  </a:spcBef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</m:oMath>
                </a14:m>
                <a:endParaRPr lang="en-US" b="0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 indent="-342900"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en-US" dirty="0"/>
              </a:p>
              <a:p>
                <a:pPr indent="-342900">
                  <a:spcBef>
                    <a:spcPts val="0"/>
                  </a:spcBef>
                </a:pPr>
                <a:endParaRPr lang="en-US" dirty="0"/>
              </a:p>
              <a:p>
                <a:pPr indent="-342900">
                  <a:spcBef>
                    <a:spcPts val="0"/>
                  </a:spcBef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𝑥𝑧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</m:oMath>
                </a14:m>
                <a:endParaRPr lang="en-US" dirty="0"/>
              </a:p>
              <a:p>
                <a:pPr indent="-342900"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𝑥𝑧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en-US" dirty="0"/>
              </a:p>
              <a:p>
                <a:pPr indent="-342900">
                  <a:spcBef>
                    <a:spcPts val="0"/>
                  </a:spcBef>
                </a:pPr>
                <a:endParaRPr lang="en-US" dirty="0"/>
              </a:p>
              <a:p>
                <a:pPr indent="-342900">
                  <a:spcBef>
                    <a:spcPts val="0"/>
                  </a:spcBef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𝑥𝑧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pPr indent="-342900"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𝑥𝑧</m:t>
                        </m:r>
                      </m:sub>
                    </m:sSub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func>
                  </m:oMath>
                </a14:m>
                <a:endParaRPr lang="en-US" dirty="0"/>
              </a:p>
              <a:p>
                <a:pPr indent="-342900">
                  <a:spcBef>
                    <a:spcPts val="0"/>
                  </a:spcBef>
                </a:pPr>
                <a:endParaRPr lang="en-US" dirty="0"/>
              </a:p>
              <a:p>
                <a:pPr indent="-342900">
                  <a:spcBef>
                    <a:spcPts val="0"/>
                  </a:spcBef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𝑥𝑧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pPr indent="-342900"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𝑥𝑧</m:t>
                        </m:r>
                      </m:sub>
                    </m:sSub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func>
                  </m:oMath>
                </a14:m>
                <a:endParaRPr lang="en-US" dirty="0"/>
              </a:p>
              <a:p>
                <a:pPr indent="-342900">
                  <a:spcBef>
                    <a:spcPts val="0"/>
                  </a:spcBef>
                </a:pPr>
                <a:endParaRPr lang="en-US" dirty="0"/>
              </a:p>
              <a:p>
                <a:pPr indent="-342900">
                  <a:spcBef>
                    <a:spcPts val="0"/>
                  </a:spcBef>
                </a:pPr>
                <a:endParaRPr lang="en-US" dirty="0"/>
              </a:p>
            </p:txBody>
          </p:sp>
        </mc:Choice>
        <mc:Fallback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D6966A1D-C447-6400-A116-977A797D37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031" y="1321403"/>
                <a:ext cx="4564553" cy="5121900"/>
              </a:xfrm>
              <a:prstGeom prst="rect">
                <a:avLst/>
              </a:prstGeom>
              <a:blipFill>
                <a:blip r:embed="rId12"/>
                <a:stretch>
                  <a:fillRect l="-18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Oval 8">
            <a:extLst>
              <a:ext uri="{FF2B5EF4-FFF2-40B4-BE49-F238E27FC236}">
                <a16:creationId xmlns:a16="http://schemas.microsoft.com/office/drawing/2014/main" id="{C651BF5F-9784-B07B-522A-1684235F1BA8}"/>
              </a:ext>
            </a:extLst>
          </p:cNvPr>
          <p:cNvSpPr/>
          <p:nvPr/>
        </p:nvSpPr>
        <p:spPr>
          <a:xfrm>
            <a:off x="852923" y="1874750"/>
            <a:ext cx="2017677" cy="59329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AEFBAF3-14FA-E143-9293-45355A759563}"/>
              </a:ext>
            </a:extLst>
          </p:cNvPr>
          <p:cNvSpPr/>
          <p:nvPr/>
        </p:nvSpPr>
        <p:spPr>
          <a:xfrm>
            <a:off x="876504" y="4439119"/>
            <a:ext cx="2260426" cy="59329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492E795-4601-6577-5F62-BE66E4AB5369}"/>
              </a:ext>
            </a:extLst>
          </p:cNvPr>
          <p:cNvSpPr/>
          <p:nvPr/>
        </p:nvSpPr>
        <p:spPr>
          <a:xfrm>
            <a:off x="852923" y="5719689"/>
            <a:ext cx="2260426" cy="59329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32ACD8B-9773-F6D4-0EAC-AF73F060D2A9}"/>
              </a:ext>
            </a:extLst>
          </p:cNvPr>
          <p:cNvCxnSpPr>
            <a:cxnSpLocks/>
            <a:stCxn id="6" idx="1"/>
            <a:endCxn id="9" idx="5"/>
          </p:cNvCxnSpPr>
          <p:nvPr/>
        </p:nvCxnSpPr>
        <p:spPr>
          <a:xfrm flipH="1" flipV="1">
            <a:off x="2575118" y="2381162"/>
            <a:ext cx="2257447" cy="343530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A56D2C1-1699-C9E0-0B87-3C383F936B11}"/>
              </a:ext>
            </a:extLst>
          </p:cNvPr>
          <p:cNvCxnSpPr>
            <a:cxnSpLocks/>
            <a:stCxn id="6" idx="1"/>
            <a:endCxn id="10" idx="6"/>
          </p:cNvCxnSpPr>
          <p:nvPr/>
        </p:nvCxnSpPr>
        <p:spPr>
          <a:xfrm flipH="1" flipV="1">
            <a:off x="3136930" y="4735768"/>
            <a:ext cx="1695635" cy="1080703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70ACC37-B5D5-A8B8-FFE9-7976425931D3}"/>
              </a:ext>
            </a:extLst>
          </p:cNvPr>
          <p:cNvCxnSpPr>
            <a:cxnSpLocks/>
            <a:stCxn id="6" idx="1"/>
            <a:endCxn id="12" idx="6"/>
          </p:cNvCxnSpPr>
          <p:nvPr/>
        </p:nvCxnSpPr>
        <p:spPr>
          <a:xfrm flipH="1">
            <a:off x="3113349" y="5816471"/>
            <a:ext cx="1719216" cy="199868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0356064B-C106-082E-3878-F7A5F48D63D9}"/>
              </a:ext>
            </a:extLst>
          </p:cNvPr>
          <p:cNvSpPr/>
          <p:nvPr/>
        </p:nvSpPr>
        <p:spPr>
          <a:xfrm>
            <a:off x="903124" y="3130750"/>
            <a:ext cx="2017677" cy="59329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52AF860-0313-0ECA-E0F1-6FA7FD3CE746}"/>
              </a:ext>
            </a:extLst>
          </p:cNvPr>
          <p:cNvCxnSpPr>
            <a:cxnSpLocks/>
            <a:endCxn id="20" idx="5"/>
          </p:cNvCxnSpPr>
          <p:nvPr/>
        </p:nvCxnSpPr>
        <p:spPr>
          <a:xfrm flipH="1" flipV="1">
            <a:off x="2625319" y="3637162"/>
            <a:ext cx="2182524" cy="2179308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55482BB-2100-A00A-67F7-24EC7A9232AB}"/>
                  </a:ext>
                </a:extLst>
              </p:cNvPr>
              <p:cNvSpPr txBox="1"/>
              <p:nvPr/>
            </p:nvSpPr>
            <p:spPr>
              <a:xfrm>
                <a:off x="4832565" y="5400972"/>
                <a:ext cx="7182651" cy="830997"/>
              </a:xfrm>
              <a:prstGeom prst="rect">
                <a:avLst/>
              </a:prstGeom>
              <a:solidFill>
                <a:schemeClr val="lt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We can use these equations to convert polar coordinates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𝜓</m:t>
                    </m:r>
                    <m:r>
                      <a:rPr lang="en-US" sz="24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𝜃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,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𝑑</m:t>
                    </m:r>
                    <m:r>
                      <a:rPr lang="en-US" sz="24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en-US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into cartesian coordinates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</m:t>
                    </m:r>
                    <m:r>
                      <a:rPr lang="en-US" sz="24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𝑦</m:t>
                    </m:r>
                    <m:r>
                      <a:rPr lang="en-US" sz="24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</m:t>
                    </m:r>
                    <m:r>
                      <a:rPr lang="en-US" sz="24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𝑧</m:t>
                    </m:r>
                    <m:r>
                      <a:rPr lang="en-US" sz="24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en-US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55482BB-2100-A00A-67F7-24EC7A9232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2565" y="5400972"/>
                <a:ext cx="7182651" cy="830997"/>
              </a:xfrm>
              <a:prstGeom prst="rect">
                <a:avLst/>
              </a:prstGeom>
              <a:blipFill>
                <a:blip r:embed="rId13"/>
                <a:stretch>
                  <a:fillRect l="-1271" t="-5072" r="-1017" b="-1521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3979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50"/>
                            </p:stCondLst>
                            <p:childTnLst>
                              <p:par>
                                <p:cTn id="1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750"/>
                            </p:stCondLst>
                            <p:childTnLst>
                              <p:par>
                                <p:cTn id="23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5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250"/>
                            </p:stCondLst>
                            <p:childTnLst>
                              <p:par>
                                <p:cTn id="31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3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750"/>
                            </p:stCondLst>
                            <p:childTnLst>
                              <p:par>
                                <p:cTn id="3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20" grpId="0" animBg="1"/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89EF3-62DA-E152-49DE-63FF21346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EA2D7-3104-756E-AC24-B73495D7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9439"/>
          </a:xfrm>
        </p:spPr>
        <p:txBody>
          <a:bodyPr/>
          <a:lstStyle/>
          <a:p>
            <a:r>
              <a:rPr lang="en-US" dirty="0"/>
              <a:t>Spherical Polar Coordinates</a:t>
            </a:r>
          </a:p>
        </p:txBody>
      </p:sp>
      <p:pic>
        <p:nvPicPr>
          <p:cNvPr id="4" name="Graphic 3" descr="Rocket with solid fill">
            <a:extLst>
              <a:ext uri="{FF2B5EF4-FFF2-40B4-BE49-F238E27FC236}">
                <a16:creationId xmlns:a16="http://schemas.microsoft.com/office/drawing/2014/main" id="{EDF0B344-721B-39DB-E71D-EC55C772B1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10152644" y="1848115"/>
            <a:ext cx="378632" cy="378632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95C38D0-37B6-89DB-98FA-7748B904AAC6}"/>
              </a:ext>
            </a:extLst>
          </p:cNvPr>
          <p:cNvCxnSpPr>
            <a:cxnSpLocks/>
          </p:cNvCxnSpPr>
          <p:nvPr/>
        </p:nvCxnSpPr>
        <p:spPr>
          <a:xfrm>
            <a:off x="7131881" y="1587756"/>
            <a:ext cx="0" cy="458632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E753763-FE22-50CB-72A5-AD27629EE249}"/>
              </a:ext>
            </a:extLst>
          </p:cNvPr>
          <p:cNvCxnSpPr>
            <a:cxnSpLocks/>
          </p:cNvCxnSpPr>
          <p:nvPr/>
        </p:nvCxnSpPr>
        <p:spPr>
          <a:xfrm>
            <a:off x="5409613" y="4815797"/>
            <a:ext cx="545506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E60B67B-BA57-BB74-3DB0-453E930F2599}"/>
              </a:ext>
            </a:extLst>
          </p:cNvPr>
          <p:cNvCxnSpPr>
            <a:cxnSpLocks/>
          </p:cNvCxnSpPr>
          <p:nvPr/>
        </p:nvCxnSpPr>
        <p:spPr>
          <a:xfrm flipV="1">
            <a:off x="5856525" y="3791460"/>
            <a:ext cx="3419412" cy="162818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4AAE623-176C-2B48-619D-DC17DBF6B30C}"/>
              </a:ext>
            </a:extLst>
          </p:cNvPr>
          <p:cNvCxnSpPr>
            <a:cxnSpLocks/>
          </p:cNvCxnSpPr>
          <p:nvPr/>
        </p:nvCxnSpPr>
        <p:spPr>
          <a:xfrm flipV="1">
            <a:off x="7131881" y="4193788"/>
            <a:ext cx="3139561" cy="622008"/>
          </a:xfrm>
          <a:prstGeom prst="line">
            <a:avLst/>
          </a:prstGeom>
          <a:ln w="1905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440A4E7-D6E9-BA41-F338-C1EC2F70B936}"/>
              </a:ext>
            </a:extLst>
          </p:cNvPr>
          <p:cNvCxnSpPr>
            <a:cxnSpLocks/>
          </p:cNvCxnSpPr>
          <p:nvPr/>
        </p:nvCxnSpPr>
        <p:spPr>
          <a:xfrm flipV="1">
            <a:off x="10271442" y="2039003"/>
            <a:ext cx="0" cy="2154785"/>
          </a:xfrm>
          <a:prstGeom prst="line">
            <a:avLst/>
          </a:prstGeom>
          <a:ln w="12700">
            <a:solidFill>
              <a:srgbClr val="00B05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00D79B5-50DF-8570-5A60-22420B17E456}"/>
              </a:ext>
            </a:extLst>
          </p:cNvPr>
          <p:cNvCxnSpPr>
            <a:cxnSpLocks/>
          </p:cNvCxnSpPr>
          <p:nvPr/>
        </p:nvCxnSpPr>
        <p:spPr>
          <a:xfrm flipV="1">
            <a:off x="7131880" y="2039003"/>
            <a:ext cx="3141175" cy="2776793"/>
          </a:xfrm>
          <a:prstGeom prst="line">
            <a:avLst/>
          </a:prstGeom>
          <a:ln w="19050">
            <a:solidFill>
              <a:srgbClr val="7030A0"/>
            </a:solidFill>
            <a:prstDash val="soli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F39AEEC-A6D2-C53E-B19F-607054429AE0}"/>
              </a:ext>
            </a:extLst>
          </p:cNvPr>
          <p:cNvCxnSpPr>
            <a:cxnSpLocks/>
          </p:cNvCxnSpPr>
          <p:nvPr/>
        </p:nvCxnSpPr>
        <p:spPr>
          <a:xfrm flipH="1">
            <a:off x="8414083" y="4199236"/>
            <a:ext cx="1860171" cy="0"/>
          </a:xfrm>
          <a:prstGeom prst="line">
            <a:avLst/>
          </a:prstGeom>
          <a:ln w="127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7941D6D-64B1-0375-AD7F-A76508A32558}"/>
              </a:ext>
            </a:extLst>
          </p:cNvPr>
          <p:cNvCxnSpPr>
            <a:cxnSpLocks/>
          </p:cNvCxnSpPr>
          <p:nvPr/>
        </p:nvCxnSpPr>
        <p:spPr>
          <a:xfrm flipV="1">
            <a:off x="8968819" y="4193787"/>
            <a:ext cx="1302623" cy="620253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E8DD348-1557-146D-5F27-8C8FE28CA3A5}"/>
                  </a:ext>
                </a:extLst>
              </p:cNvPr>
              <p:cNvSpPr txBox="1"/>
              <p:nvPr/>
            </p:nvSpPr>
            <p:spPr>
              <a:xfrm>
                <a:off x="10408169" y="1644557"/>
                <a:ext cx="2124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E8DD348-1557-146D-5F27-8C8FE28CA3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8169" y="1644557"/>
                <a:ext cx="212430" cy="276999"/>
              </a:xfrm>
              <a:prstGeom prst="rect">
                <a:avLst/>
              </a:prstGeom>
              <a:blipFill>
                <a:blip r:embed="rId4"/>
                <a:stretch>
                  <a:fillRect l="-22857" r="-22857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030F7FF-B022-129C-6A9C-9B1186439443}"/>
                  </a:ext>
                </a:extLst>
              </p:cNvPr>
              <p:cNvSpPr txBox="1"/>
              <p:nvPr/>
            </p:nvSpPr>
            <p:spPr>
              <a:xfrm>
                <a:off x="9344991" y="3888130"/>
                <a:ext cx="2751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030F7FF-B022-129C-6A9C-9B1186439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4991" y="3888130"/>
                <a:ext cx="275139" cy="276999"/>
              </a:xfrm>
              <a:prstGeom prst="rect">
                <a:avLst/>
              </a:prstGeom>
              <a:blipFill>
                <a:blip r:embed="rId5"/>
                <a:stretch>
                  <a:fillRect l="-20000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75AD63C-D2D0-96C3-1714-6ABC78964E61}"/>
                  </a:ext>
                </a:extLst>
              </p:cNvPr>
              <p:cNvSpPr txBox="1"/>
              <p:nvPr/>
            </p:nvSpPr>
            <p:spPr>
              <a:xfrm>
                <a:off x="10293725" y="3020301"/>
                <a:ext cx="282770" cy="2989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75AD63C-D2D0-96C3-1714-6ABC78964E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3725" y="3020301"/>
                <a:ext cx="282770" cy="298928"/>
              </a:xfrm>
              <a:prstGeom prst="rect">
                <a:avLst/>
              </a:prstGeom>
              <a:blipFill>
                <a:blip r:embed="rId6"/>
                <a:stretch>
                  <a:fillRect l="-19565" r="-4348" b="-20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38CD9A8-922F-6D5B-8BD4-6783D99DDF63}"/>
                  </a:ext>
                </a:extLst>
              </p:cNvPr>
              <p:cNvSpPr txBox="1"/>
              <p:nvPr/>
            </p:nvSpPr>
            <p:spPr>
              <a:xfrm>
                <a:off x="9757699" y="4403317"/>
                <a:ext cx="26475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38CD9A8-922F-6D5B-8BD4-6783D99DDF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7699" y="4403317"/>
                <a:ext cx="264752" cy="276999"/>
              </a:xfrm>
              <a:prstGeom prst="rect">
                <a:avLst/>
              </a:prstGeom>
              <a:blipFill>
                <a:blip r:embed="rId7"/>
                <a:stretch>
                  <a:fillRect l="-20930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Arc 34">
            <a:extLst>
              <a:ext uri="{FF2B5EF4-FFF2-40B4-BE49-F238E27FC236}">
                <a16:creationId xmlns:a16="http://schemas.microsoft.com/office/drawing/2014/main" id="{677694D6-ED4B-C261-C4AC-B2E2DDD361F9}"/>
              </a:ext>
            </a:extLst>
          </p:cNvPr>
          <p:cNvSpPr/>
          <p:nvPr/>
        </p:nvSpPr>
        <p:spPr>
          <a:xfrm>
            <a:off x="5512102" y="4045128"/>
            <a:ext cx="3233261" cy="1541338"/>
          </a:xfrm>
          <a:prstGeom prst="arc">
            <a:avLst>
              <a:gd name="adj1" fmla="val 20099205"/>
              <a:gd name="adj2" fmla="val 20930158"/>
            </a:avLst>
          </a:prstGeom>
          <a:ln>
            <a:solidFill>
              <a:srgbClr val="FF0000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D9CCE68-9AC5-588D-2B0E-4576C8AF71DC}"/>
                  </a:ext>
                </a:extLst>
              </p:cNvPr>
              <p:cNvSpPr txBox="1"/>
              <p:nvPr/>
            </p:nvSpPr>
            <p:spPr>
              <a:xfrm>
                <a:off x="8137144" y="4315247"/>
                <a:ext cx="2452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</m:oMath>
                  </m:oMathPara>
                </a14:m>
                <a:endParaRPr lang="en-US" sz="1800" b="0" dirty="0">
                  <a:solidFill>
                    <a:srgbClr val="00B050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D9CCE68-9AC5-588D-2B0E-4576C8AF71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7144" y="4315247"/>
                <a:ext cx="245259" cy="276999"/>
              </a:xfrm>
              <a:prstGeom prst="rect">
                <a:avLst/>
              </a:prstGeom>
              <a:blipFill>
                <a:blip r:embed="rId8"/>
                <a:stretch>
                  <a:fillRect l="-22500" r="-2000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579C6EE-9D8C-EB0F-852B-9FE3DB06CBA2}"/>
                  </a:ext>
                </a:extLst>
              </p:cNvPr>
              <p:cNvSpPr txBox="1"/>
              <p:nvPr/>
            </p:nvSpPr>
            <p:spPr>
              <a:xfrm>
                <a:off x="8924224" y="2776732"/>
                <a:ext cx="2044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solidFill>
                    <a:srgbClr val="7030A0"/>
                  </a:solidFill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579C6EE-9D8C-EB0F-852B-9FE3DB06CB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224" y="2776732"/>
                <a:ext cx="204479" cy="276999"/>
              </a:xfrm>
              <a:prstGeom prst="rect">
                <a:avLst/>
              </a:prstGeom>
              <a:blipFill>
                <a:blip r:embed="rId9"/>
                <a:stretch>
                  <a:fillRect l="-27273" r="-24242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33AA87A-8AC7-CBEC-D513-F64E7AFC0228}"/>
              </a:ext>
            </a:extLst>
          </p:cNvPr>
          <p:cNvCxnSpPr>
            <a:cxnSpLocks/>
          </p:cNvCxnSpPr>
          <p:nvPr/>
        </p:nvCxnSpPr>
        <p:spPr>
          <a:xfrm flipH="1">
            <a:off x="8414083" y="4193787"/>
            <a:ext cx="1860171" cy="0"/>
          </a:xfrm>
          <a:prstGeom prst="line">
            <a:avLst/>
          </a:prstGeom>
          <a:ln w="34925">
            <a:solidFill>
              <a:srgbClr val="FF0000"/>
            </a:solidFill>
            <a:prstDash val="solid"/>
            <a:headEnd type="triangle" w="med" len="lg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CF41C889-CB8B-E94F-6758-074EA6C48739}"/>
              </a:ext>
            </a:extLst>
          </p:cNvPr>
          <p:cNvCxnSpPr>
            <a:cxnSpLocks/>
          </p:cNvCxnSpPr>
          <p:nvPr/>
        </p:nvCxnSpPr>
        <p:spPr>
          <a:xfrm flipV="1">
            <a:off x="7131882" y="4193787"/>
            <a:ext cx="1302623" cy="620253"/>
          </a:xfrm>
          <a:prstGeom prst="line">
            <a:avLst/>
          </a:prstGeom>
          <a:ln w="34925">
            <a:solidFill>
              <a:srgbClr val="0070C0"/>
            </a:solidFill>
            <a:prstDash val="soli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 Placeholder 2">
                <a:extLst>
                  <a:ext uri="{FF2B5EF4-FFF2-40B4-BE49-F238E27FC236}">
                    <a16:creationId xmlns:a16="http://schemas.microsoft.com/office/drawing/2014/main" id="{E1803472-9B0D-76B3-0A99-F25614F3B86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7031" y="2039003"/>
                <a:ext cx="4948636" cy="440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91425" tIns="91425" rIns="91425" bIns="91425" anchor="t" anchorCtr="0"/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342900" marR="0" lvl="0" indent="-190500" algn="l" rtl="0">
                  <a:lnSpc>
                    <a:spcPct val="100000"/>
                  </a:lnSpc>
                  <a:spcBef>
                    <a:spcPts val="480"/>
                  </a:spcBef>
                  <a:spcAft>
                    <a:spcPts val="0"/>
                  </a:spcAft>
                  <a:buClr>
                    <a:srgbClr val="000000"/>
                  </a:buClr>
                  <a:buSzPct val="100000"/>
                  <a:buFont typeface="Arial"/>
                  <a:buChar char="•"/>
                  <a:defRPr sz="24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marL="742950" marR="0" lvl="1" indent="-158750" algn="l" rtl="0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Clr>
                    <a:srgbClr val="000000"/>
                  </a:buClr>
                  <a:buSzPct val="100000"/>
                  <a:buFont typeface="Arial"/>
                  <a:buChar char="–"/>
                  <a:defRPr sz="20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marL="1143000" marR="0" lvl="2" indent="-114300" algn="l" rtl="0">
                  <a:lnSpc>
                    <a:spcPct val="100000"/>
                  </a:lnSpc>
                  <a:spcBef>
                    <a:spcPts val="360"/>
                  </a:spcBef>
                  <a:spcAft>
                    <a:spcPts val="0"/>
                  </a:spcAft>
                  <a:buClr>
                    <a:srgbClr val="000000"/>
                  </a:buClr>
                  <a:buSzPct val="100000"/>
                  <a:buFont typeface="Arial"/>
                  <a:buChar char="•"/>
                  <a:def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marL="1600200" marR="0" lvl="3" indent="-127000" algn="l" rtl="0">
                  <a:lnSpc>
                    <a:spcPct val="100000"/>
                  </a:lnSpc>
                  <a:spcBef>
                    <a:spcPts val="320"/>
                  </a:spcBef>
                  <a:spcAft>
                    <a:spcPts val="0"/>
                  </a:spcAft>
                  <a:buClr>
                    <a:srgbClr val="000000"/>
                  </a:buClr>
                  <a:buSzPct val="100000"/>
                  <a:buFont typeface="Arial"/>
                  <a:buChar char="–"/>
                  <a:defRPr sz="16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marL="2057400" marR="0" lvl="4" indent="-127000" algn="l" rtl="0">
                  <a:lnSpc>
                    <a:spcPct val="100000"/>
                  </a:lnSpc>
                  <a:spcBef>
                    <a:spcPts val="320"/>
                  </a:spcBef>
                  <a:spcAft>
                    <a:spcPts val="0"/>
                  </a:spcAft>
                  <a:buClr>
                    <a:srgbClr val="000000"/>
                  </a:buClr>
                  <a:buSzPct val="100000"/>
                  <a:buFont typeface="Arial"/>
                  <a:buChar char="»"/>
                  <a:defRPr sz="16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marL="2514600" marR="0" lvl="5" indent="-101600" algn="l" rtl="0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Clr>
                    <a:schemeClr val="dk1"/>
                  </a:buClr>
                  <a:buSzPct val="1000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marL="2971800" marR="0" lvl="6" indent="-101600" algn="l" rtl="0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Clr>
                    <a:schemeClr val="dk1"/>
                  </a:buClr>
                  <a:buSzPct val="1000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marL="3429000" marR="0" lvl="7" indent="-101600" algn="l" rtl="0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Clr>
                    <a:schemeClr val="dk1"/>
                  </a:buClr>
                  <a:buSzPct val="1000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marL="3886200" marR="0" lvl="8" indent="-101600" algn="l" rtl="0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Clr>
                    <a:schemeClr val="dk1"/>
                  </a:buClr>
                  <a:buSzPct val="1000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indent="-342900">
                  <a:spcBef>
                    <a:spcPts val="0"/>
                  </a:spcBef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</m:fName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func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den>
                    </m:f>
                  </m:oMath>
                </a14:m>
                <a:endParaRPr lang="en-US" b="0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 indent="-342900">
                  <a:spcBef>
                    <a:spcPts val="0"/>
                  </a:spcBef>
                </a:pPr>
                <a:endParaRPr lang="en-US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indent="-342900"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atan</m:t>
                        </m:r>
                      </m:fName>
                      <m:e>
                        <m:f>
                          <m:f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den>
                        </m:f>
                      </m:e>
                    </m:func>
                  </m:oMath>
                </a14:m>
                <a:endParaRPr lang="en-US" b="0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 indent="-342900">
                  <a:spcBef>
                    <a:spcPts val="0"/>
                  </a:spcBef>
                </a:pPr>
                <a:endParaRPr lang="en-US" b="0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 indent="-342900">
                  <a:spcBef>
                    <a:spcPts val="0"/>
                  </a:spcBef>
                </a:pPr>
                <a:r>
                  <a:rPr lang="en-US" dirty="0"/>
                  <a:t>What about the other quadrants?</a:t>
                </a:r>
              </a:p>
              <a:p>
                <a:pPr indent="-342900">
                  <a:spcBef>
                    <a:spcPts val="0"/>
                  </a:spcBef>
                </a:pPr>
                <a:endParaRPr lang="en-US" dirty="0"/>
              </a:p>
              <a:p>
                <a:pPr indent="-342900">
                  <a:spcBef>
                    <a:spcPts val="0"/>
                  </a:spcBef>
                </a:pPr>
                <a:r>
                  <a:rPr lang="en-US" dirty="0"/>
                  <a:t>What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r>
                  <a:rPr lang="en-US" dirty="0"/>
                  <a:t> is zero?</a:t>
                </a:r>
              </a:p>
              <a:p>
                <a:pPr indent="-342900">
                  <a:spcBef>
                    <a:spcPts val="0"/>
                  </a:spcBef>
                </a:pPr>
                <a:endParaRPr lang="en-US" dirty="0"/>
              </a:p>
              <a:p>
                <a:pPr indent="-342900">
                  <a:spcBef>
                    <a:spcPts val="0"/>
                  </a:spcBef>
                </a:pPr>
                <a:endParaRPr lang="en-US" b="0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 indent="-342900">
                  <a:spcBef>
                    <a:spcPts val="0"/>
                  </a:spcBef>
                </a:pPr>
                <a:endParaRPr lang="en-US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 indent="-342900">
                  <a:spcBef>
                    <a:spcPts val="0"/>
                  </a:spcBef>
                </a:pPr>
                <a:endParaRPr lang="en-US" b="0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 indent="-342900">
                  <a:spcBef>
                    <a:spcPts val="0"/>
                  </a:spcBef>
                </a:pPr>
                <a:endParaRPr lang="en-US" dirty="0"/>
              </a:p>
              <a:p>
                <a:pPr indent="-342900">
                  <a:spcBef>
                    <a:spcPts val="0"/>
                  </a:spcBef>
                </a:pPr>
                <a:endParaRPr lang="en-US" dirty="0"/>
              </a:p>
            </p:txBody>
          </p:sp>
        </mc:Choice>
        <mc:Fallback>
          <p:sp>
            <p:nvSpPr>
              <p:cNvPr id="57" name="Text Placeholder 2">
                <a:extLst>
                  <a:ext uri="{FF2B5EF4-FFF2-40B4-BE49-F238E27FC236}">
                    <a16:creationId xmlns:a16="http://schemas.microsoft.com/office/drawing/2014/main" id="{E1803472-9B0D-76B3-0A99-F25614F3B8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031" y="2039003"/>
                <a:ext cx="4948636" cy="4404300"/>
              </a:xfrm>
              <a:prstGeom prst="rect">
                <a:avLst/>
              </a:prstGeom>
              <a:blipFill>
                <a:blip r:embed="rId10"/>
                <a:stretch>
                  <a:fillRect l="-172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TextBox 57">
            <a:extLst>
              <a:ext uri="{FF2B5EF4-FFF2-40B4-BE49-F238E27FC236}">
                <a16:creationId xmlns:a16="http://schemas.microsoft.com/office/drawing/2014/main" id="{1C530878-8D4B-5AF6-CC01-6870D2ACAF68}"/>
              </a:ext>
            </a:extLst>
          </p:cNvPr>
          <p:cNvSpPr txBox="1"/>
          <p:nvPr/>
        </p:nvSpPr>
        <p:spPr>
          <a:xfrm>
            <a:off x="1098156" y="1040701"/>
            <a:ext cx="4660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atan2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0E40D1A-6781-A19D-727C-6E88B4D2D633}"/>
                  </a:ext>
                </a:extLst>
              </p:cNvPr>
              <p:cNvSpPr txBox="1"/>
              <p:nvPr/>
            </p:nvSpPr>
            <p:spPr>
              <a:xfrm>
                <a:off x="3482093" y="2536294"/>
                <a:ext cx="313560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200" b="0" i="0" smtClean="0">
                            <a:latin typeface="Cambria Math" panose="02040503050406030204" pitchFamily="18" charset="0"/>
                          </a:rPr>
                          <m:t>atan</m:t>
                        </m:r>
                        <m:r>
                          <a:rPr lang="en-US" sz="32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fName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3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3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3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3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3200" dirty="0"/>
                  <a:t> </a:t>
                </a:r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0E40D1A-6781-A19D-727C-6E88B4D2D6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2093" y="2536294"/>
                <a:ext cx="3135602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3275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E9C1F-4CF0-87BD-C38B-CDC6627F7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39F31-7A0D-E369-94CD-AC5A9B5E5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9439"/>
          </a:xfrm>
        </p:spPr>
        <p:txBody>
          <a:bodyPr/>
          <a:lstStyle/>
          <a:p>
            <a:r>
              <a:rPr lang="en-US" dirty="0"/>
              <a:t>Spherical Polar Coordinates</a:t>
            </a:r>
          </a:p>
        </p:txBody>
      </p:sp>
      <p:pic>
        <p:nvPicPr>
          <p:cNvPr id="4" name="Graphic 3" descr="Rocket with solid fill">
            <a:extLst>
              <a:ext uri="{FF2B5EF4-FFF2-40B4-BE49-F238E27FC236}">
                <a16:creationId xmlns:a16="http://schemas.microsoft.com/office/drawing/2014/main" id="{B3573380-B206-A68B-4776-E65803F30C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10152644" y="1848115"/>
            <a:ext cx="378632" cy="37863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Placeholder 2">
                <a:extLst>
                  <a:ext uri="{FF2B5EF4-FFF2-40B4-BE49-F238E27FC236}">
                    <a16:creationId xmlns:a16="http://schemas.microsoft.com/office/drawing/2014/main" id="{188ED5F3-B49E-85D5-9DDE-33C8B73604C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7031" y="1321403"/>
                <a:ext cx="4564553" cy="5121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91425" tIns="91425" rIns="91425" bIns="91425" anchor="t" anchorCtr="0"/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342900" marR="0" lvl="0" indent="-190500" algn="l" rtl="0">
                  <a:lnSpc>
                    <a:spcPct val="100000"/>
                  </a:lnSpc>
                  <a:spcBef>
                    <a:spcPts val="480"/>
                  </a:spcBef>
                  <a:spcAft>
                    <a:spcPts val="0"/>
                  </a:spcAft>
                  <a:buClr>
                    <a:srgbClr val="000000"/>
                  </a:buClr>
                  <a:buSzPct val="100000"/>
                  <a:buFont typeface="Arial"/>
                  <a:buChar char="•"/>
                  <a:defRPr sz="24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marL="742950" marR="0" lvl="1" indent="-158750" algn="l" rtl="0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Clr>
                    <a:srgbClr val="000000"/>
                  </a:buClr>
                  <a:buSzPct val="100000"/>
                  <a:buFont typeface="Arial"/>
                  <a:buChar char="–"/>
                  <a:defRPr sz="20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marL="1143000" marR="0" lvl="2" indent="-114300" algn="l" rtl="0">
                  <a:lnSpc>
                    <a:spcPct val="100000"/>
                  </a:lnSpc>
                  <a:spcBef>
                    <a:spcPts val="360"/>
                  </a:spcBef>
                  <a:spcAft>
                    <a:spcPts val="0"/>
                  </a:spcAft>
                  <a:buClr>
                    <a:srgbClr val="000000"/>
                  </a:buClr>
                  <a:buSzPct val="100000"/>
                  <a:buFont typeface="Arial"/>
                  <a:buChar char="•"/>
                  <a:def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marL="1600200" marR="0" lvl="3" indent="-127000" algn="l" rtl="0">
                  <a:lnSpc>
                    <a:spcPct val="100000"/>
                  </a:lnSpc>
                  <a:spcBef>
                    <a:spcPts val="320"/>
                  </a:spcBef>
                  <a:spcAft>
                    <a:spcPts val="0"/>
                  </a:spcAft>
                  <a:buClr>
                    <a:srgbClr val="000000"/>
                  </a:buClr>
                  <a:buSzPct val="100000"/>
                  <a:buFont typeface="Arial"/>
                  <a:buChar char="–"/>
                  <a:defRPr sz="16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marL="2057400" marR="0" lvl="4" indent="-127000" algn="l" rtl="0">
                  <a:lnSpc>
                    <a:spcPct val="100000"/>
                  </a:lnSpc>
                  <a:spcBef>
                    <a:spcPts val="320"/>
                  </a:spcBef>
                  <a:spcAft>
                    <a:spcPts val="0"/>
                  </a:spcAft>
                  <a:buClr>
                    <a:srgbClr val="000000"/>
                  </a:buClr>
                  <a:buSzPct val="100000"/>
                  <a:buFont typeface="Arial"/>
                  <a:buChar char="»"/>
                  <a:defRPr sz="16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marL="2514600" marR="0" lvl="5" indent="-101600" algn="l" rtl="0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Clr>
                    <a:schemeClr val="dk1"/>
                  </a:buClr>
                  <a:buSzPct val="1000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marL="2971800" marR="0" lvl="6" indent="-101600" algn="l" rtl="0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Clr>
                    <a:schemeClr val="dk1"/>
                  </a:buClr>
                  <a:buSzPct val="1000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marL="3429000" marR="0" lvl="7" indent="-101600" algn="l" rtl="0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Clr>
                    <a:schemeClr val="dk1"/>
                  </a:buClr>
                  <a:buSzPct val="1000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marL="3886200" marR="0" lvl="8" indent="-101600" algn="l" rtl="0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Clr>
                    <a:schemeClr val="dk1"/>
                  </a:buClr>
                  <a:buSzPct val="1000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indent="-342900"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en-US" dirty="0"/>
              </a:p>
              <a:p>
                <a:pPr indent="-342900">
                  <a:spcBef>
                    <a:spcPts val="0"/>
                  </a:spcBef>
                </a:pPr>
                <a:endParaRPr lang="en-US" dirty="0"/>
              </a:p>
              <a:p>
                <a:pPr indent="-342900"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𝑥𝑧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en-US" dirty="0"/>
              </a:p>
              <a:p>
                <a:pPr indent="-342900">
                  <a:spcBef>
                    <a:spcPts val="0"/>
                  </a:spcBef>
                </a:pPr>
                <a:endParaRPr lang="en-US" dirty="0"/>
              </a:p>
              <a:p>
                <a:pPr indent="-342900">
                  <a:spcBef>
                    <a:spcPts val="0"/>
                  </a:spcBef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tan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den>
                    </m:f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indent="-342900"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atan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indent="-342900">
                  <a:spcBef>
                    <a:spcPts val="0"/>
                  </a:spcBef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indent="-342900">
                  <a:spcBef>
                    <a:spcPts val="0"/>
                  </a:spcBef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tan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𝑥𝑧</m:t>
                            </m:r>
                          </m:sub>
                        </m:sSub>
                      </m:den>
                    </m:f>
                  </m:oMath>
                </a14:m>
                <a:endParaRPr lang="en-US" b="0" dirty="0"/>
              </a:p>
              <a:p>
                <a:pPr indent="-342900"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atan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1" indent="-342900">
                  <a:spcBef>
                    <a:spcPts val="0"/>
                  </a:spcBef>
                </a:pPr>
                <a:endParaRPr lang="en-US" dirty="0"/>
              </a:p>
              <a:p>
                <a:pPr indent="-342900">
                  <a:spcBef>
                    <a:spcPts val="0"/>
                  </a:spcBef>
                </a:pPr>
                <a:endParaRPr lang="en-US" dirty="0"/>
              </a:p>
              <a:p>
                <a:pPr lvl="1" indent="-342900">
                  <a:spcBef>
                    <a:spcPts val="0"/>
                  </a:spcBef>
                </a:pPr>
                <a:endParaRPr lang="en-US" dirty="0"/>
              </a:p>
            </p:txBody>
          </p:sp>
        </mc:Choice>
        <mc:Fallback>
          <p:sp>
            <p:nvSpPr>
              <p:cNvPr id="7" name="Text Placeholder 2">
                <a:extLst>
                  <a:ext uri="{FF2B5EF4-FFF2-40B4-BE49-F238E27FC236}">
                    <a16:creationId xmlns:a16="http://schemas.microsoft.com/office/drawing/2014/main" id="{188ED5F3-B49E-85D5-9DDE-33C8B73604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031" y="1321403"/>
                <a:ext cx="4564553" cy="5121900"/>
              </a:xfrm>
              <a:prstGeom prst="rect">
                <a:avLst/>
              </a:prstGeom>
              <a:blipFill>
                <a:blip r:embed="rId4"/>
                <a:stretch>
                  <a:fillRect l="-18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F2DD989-BCE5-8B5E-F108-08750BBB2763}"/>
              </a:ext>
            </a:extLst>
          </p:cNvPr>
          <p:cNvCxnSpPr>
            <a:cxnSpLocks/>
          </p:cNvCxnSpPr>
          <p:nvPr/>
        </p:nvCxnSpPr>
        <p:spPr>
          <a:xfrm>
            <a:off x="7131881" y="1587756"/>
            <a:ext cx="0" cy="458632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275466-A1F2-B2FC-ED6C-CEFEF9A0916F}"/>
              </a:ext>
            </a:extLst>
          </p:cNvPr>
          <p:cNvCxnSpPr>
            <a:cxnSpLocks/>
          </p:cNvCxnSpPr>
          <p:nvPr/>
        </p:nvCxnSpPr>
        <p:spPr>
          <a:xfrm>
            <a:off x="5409613" y="4815797"/>
            <a:ext cx="545506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9F38821-2B6C-F002-30A0-7FB86509ADA6}"/>
              </a:ext>
            </a:extLst>
          </p:cNvPr>
          <p:cNvCxnSpPr>
            <a:cxnSpLocks/>
          </p:cNvCxnSpPr>
          <p:nvPr/>
        </p:nvCxnSpPr>
        <p:spPr>
          <a:xfrm flipV="1">
            <a:off x="5856525" y="3791460"/>
            <a:ext cx="3419412" cy="162818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B0B042B-2FA6-D737-97DD-812C83F0115E}"/>
              </a:ext>
            </a:extLst>
          </p:cNvPr>
          <p:cNvCxnSpPr>
            <a:cxnSpLocks/>
          </p:cNvCxnSpPr>
          <p:nvPr/>
        </p:nvCxnSpPr>
        <p:spPr>
          <a:xfrm flipV="1">
            <a:off x="7131881" y="4193788"/>
            <a:ext cx="3139561" cy="622008"/>
          </a:xfrm>
          <a:prstGeom prst="line">
            <a:avLst/>
          </a:prstGeom>
          <a:ln w="1905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6EC7EB4-F92E-31B4-4222-8B67EC6B6B76}"/>
              </a:ext>
            </a:extLst>
          </p:cNvPr>
          <p:cNvCxnSpPr>
            <a:cxnSpLocks/>
          </p:cNvCxnSpPr>
          <p:nvPr/>
        </p:nvCxnSpPr>
        <p:spPr>
          <a:xfrm flipV="1">
            <a:off x="10271442" y="2039003"/>
            <a:ext cx="0" cy="2154785"/>
          </a:xfrm>
          <a:prstGeom prst="line">
            <a:avLst/>
          </a:prstGeom>
          <a:ln w="12700">
            <a:solidFill>
              <a:srgbClr val="00B05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DAF7B7A-062F-7683-8FF6-9BA042CA8041}"/>
              </a:ext>
            </a:extLst>
          </p:cNvPr>
          <p:cNvCxnSpPr>
            <a:cxnSpLocks/>
          </p:cNvCxnSpPr>
          <p:nvPr/>
        </p:nvCxnSpPr>
        <p:spPr>
          <a:xfrm flipV="1">
            <a:off x="7131880" y="2039003"/>
            <a:ext cx="3141175" cy="2776793"/>
          </a:xfrm>
          <a:prstGeom prst="line">
            <a:avLst/>
          </a:prstGeom>
          <a:ln w="19050">
            <a:solidFill>
              <a:srgbClr val="7030A0"/>
            </a:solidFill>
            <a:prstDash val="soli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748E971-F821-8695-1CCE-A2A29703809B}"/>
              </a:ext>
            </a:extLst>
          </p:cNvPr>
          <p:cNvCxnSpPr>
            <a:cxnSpLocks/>
          </p:cNvCxnSpPr>
          <p:nvPr/>
        </p:nvCxnSpPr>
        <p:spPr>
          <a:xfrm flipH="1">
            <a:off x="8414083" y="4199236"/>
            <a:ext cx="1860171" cy="0"/>
          </a:xfrm>
          <a:prstGeom prst="line">
            <a:avLst/>
          </a:prstGeom>
          <a:ln w="127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D7DD42B-8785-BB51-2DBA-85422F9C34E8}"/>
              </a:ext>
            </a:extLst>
          </p:cNvPr>
          <p:cNvCxnSpPr>
            <a:cxnSpLocks/>
          </p:cNvCxnSpPr>
          <p:nvPr/>
        </p:nvCxnSpPr>
        <p:spPr>
          <a:xfrm flipV="1">
            <a:off x="8968819" y="4193787"/>
            <a:ext cx="1302623" cy="620253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E997589-EF8B-13EB-9D2D-3EAE997C676F}"/>
                  </a:ext>
                </a:extLst>
              </p:cNvPr>
              <p:cNvSpPr txBox="1"/>
              <p:nvPr/>
            </p:nvSpPr>
            <p:spPr>
              <a:xfrm>
                <a:off x="10408169" y="1644557"/>
                <a:ext cx="2124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E997589-EF8B-13EB-9D2D-3EAE997C6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8169" y="1644557"/>
                <a:ext cx="212430" cy="276999"/>
              </a:xfrm>
              <a:prstGeom prst="rect">
                <a:avLst/>
              </a:prstGeom>
              <a:blipFill>
                <a:blip r:embed="rId5"/>
                <a:stretch>
                  <a:fillRect l="-22857" r="-22857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764BACE-B965-0302-478D-41E5E930171E}"/>
                  </a:ext>
                </a:extLst>
              </p:cNvPr>
              <p:cNvSpPr txBox="1"/>
              <p:nvPr/>
            </p:nvSpPr>
            <p:spPr>
              <a:xfrm>
                <a:off x="9344991" y="3888130"/>
                <a:ext cx="2751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764BACE-B965-0302-478D-41E5E93017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4991" y="3888130"/>
                <a:ext cx="275139" cy="276999"/>
              </a:xfrm>
              <a:prstGeom prst="rect">
                <a:avLst/>
              </a:prstGeom>
              <a:blipFill>
                <a:blip r:embed="rId6"/>
                <a:stretch>
                  <a:fillRect l="-20000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056D9BF-303C-55D8-7E90-D72181694CD9}"/>
                  </a:ext>
                </a:extLst>
              </p:cNvPr>
              <p:cNvSpPr txBox="1"/>
              <p:nvPr/>
            </p:nvSpPr>
            <p:spPr>
              <a:xfrm>
                <a:off x="10293725" y="3020301"/>
                <a:ext cx="282770" cy="2989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056D9BF-303C-55D8-7E90-D72181694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3725" y="3020301"/>
                <a:ext cx="282770" cy="298928"/>
              </a:xfrm>
              <a:prstGeom prst="rect">
                <a:avLst/>
              </a:prstGeom>
              <a:blipFill>
                <a:blip r:embed="rId7"/>
                <a:stretch>
                  <a:fillRect l="-19565" r="-4348" b="-20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AC3E57B-9AC5-6978-D2E0-C90F40495DFD}"/>
                  </a:ext>
                </a:extLst>
              </p:cNvPr>
              <p:cNvSpPr txBox="1"/>
              <p:nvPr/>
            </p:nvSpPr>
            <p:spPr>
              <a:xfrm>
                <a:off x="9757699" y="4403317"/>
                <a:ext cx="26475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AC3E57B-9AC5-6978-D2E0-C90F40495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7699" y="4403317"/>
                <a:ext cx="264752" cy="276999"/>
              </a:xfrm>
              <a:prstGeom prst="rect">
                <a:avLst/>
              </a:prstGeom>
              <a:blipFill>
                <a:blip r:embed="rId8"/>
                <a:stretch>
                  <a:fillRect l="-20930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Arc 31">
            <a:extLst>
              <a:ext uri="{FF2B5EF4-FFF2-40B4-BE49-F238E27FC236}">
                <a16:creationId xmlns:a16="http://schemas.microsoft.com/office/drawing/2014/main" id="{B5CCE52B-D2C6-6A12-39A7-260BD6FC3D2A}"/>
              </a:ext>
            </a:extLst>
          </p:cNvPr>
          <p:cNvSpPr/>
          <p:nvPr/>
        </p:nvSpPr>
        <p:spPr>
          <a:xfrm>
            <a:off x="5244839" y="2930371"/>
            <a:ext cx="3770857" cy="3770857"/>
          </a:xfrm>
          <a:prstGeom prst="arc">
            <a:avLst>
              <a:gd name="adj1" fmla="val 19140031"/>
              <a:gd name="adj2" fmla="val 20952757"/>
            </a:avLst>
          </a:prstGeom>
          <a:ln>
            <a:solidFill>
              <a:srgbClr val="00B050"/>
            </a:solidFill>
            <a:headEnd type="triangle" w="lg" len="lg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c 34">
            <a:extLst>
              <a:ext uri="{FF2B5EF4-FFF2-40B4-BE49-F238E27FC236}">
                <a16:creationId xmlns:a16="http://schemas.microsoft.com/office/drawing/2014/main" id="{B37C7AA4-D342-717E-4598-7DA5DA75CF89}"/>
              </a:ext>
            </a:extLst>
          </p:cNvPr>
          <p:cNvSpPr/>
          <p:nvPr/>
        </p:nvSpPr>
        <p:spPr>
          <a:xfrm>
            <a:off x="5512102" y="4045128"/>
            <a:ext cx="3233261" cy="1541338"/>
          </a:xfrm>
          <a:prstGeom prst="arc">
            <a:avLst>
              <a:gd name="adj1" fmla="val 20099205"/>
              <a:gd name="adj2" fmla="val 20930158"/>
            </a:avLst>
          </a:prstGeom>
          <a:ln>
            <a:solidFill>
              <a:srgbClr val="FF0000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0D855AB-B534-6BB8-5652-1712A8FB130A}"/>
                  </a:ext>
                </a:extLst>
              </p:cNvPr>
              <p:cNvSpPr txBox="1"/>
              <p:nvPr/>
            </p:nvSpPr>
            <p:spPr>
              <a:xfrm>
                <a:off x="8701661" y="3542505"/>
                <a:ext cx="2006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0D855AB-B534-6BB8-5652-1712A8FB1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1661" y="3542505"/>
                <a:ext cx="200696" cy="276999"/>
              </a:xfrm>
              <a:prstGeom prst="rect">
                <a:avLst/>
              </a:prstGeom>
              <a:blipFill>
                <a:blip r:embed="rId9"/>
                <a:stretch>
                  <a:fillRect l="-24242" r="-21212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A395FE5-96E4-C842-DE67-3C7198276D46}"/>
                  </a:ext>
                </a:extLst>
              </p:cNvPr>
              <p:cNvSpPr txBox="1"/>
              <p:nvPr/>
            </p:nvSpPr>
            <p:spPr>
              <a:xfrm>
                <a:off x="8137144" y="4315247"/>
                <a:ext cx="2452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Ψ</m:t>
                      </m:r>
                    </m:oMath>
                  </m:oMathPara>
                </a14:m>
                <a:endParaRPr lang="en-US" sz="1800" b="0" dirty="0">
                  <a:solidFill>
                    <a:srgbClr val="00B050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A395FE5-96E4-C842-DE67-3C7198276D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7144" y="4315247"/>
                <a:ext cx="245259" cy="276999"/>
              </a:xfrm>
              <a:prstGeom prst="rect">
                <a:avLst/>
              </a:prstGeom>
              <a:blipFill>
                <a:blip r:embed="rId10"/>
                <a:stretch>
                  <a:fillRect l="-22500" r="-2000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DFAE7E0-5CAC-9D30-36D6-56BD42735947}"/>
                  </a:ext>
                </a:extLst>
              </p:cNvPr>
              <p:cNvSpPr txBox="1"/>
              <p:nvPr/>
            </p:nvSpPr>
            <p:spPr>
              <a:xfrm>
                <a:off x="8924224" y="2776732"/>
                <a:ext cx="2044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solidFill>
                    <a:srgbClr val="7030A0"/>
                  </a:solidFill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DFAE7E0-5CAC-9D30-36D6-56BD427359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4224" y="2776732"/>
                <a:ext cx="204479" cy="276999"/>
              </a:xfrm>
              <a:prstGeom prst="rect">
                <a:avLst/>
              </a:prstGeom>
              <a:blipFill>
                <a:blip r:embed="rId11"/>
                <a:stretch>
                  <a:fillRect l="-27273" r="-24242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9D3D318-EC74-D087-CF09-1A99DA87D31A}"/>
                  </a:ext>
                </a:extLst>
              </p:cNvPr>
              <p:cNvSpPr txBox="1"/>
              <p:nvPr/>
            </p:nvSpPr>
            <p:spPr>
              <a:xfrm>
                <a:off x="8710875" y="4441513"/>
                <a:ext cx="3995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𝑥𝑧</m:t>
                          </m:r>
                        </m:sub>
                      </m:sSub>
                    </m:oMath>
                  </m:oMathPara>
                </a14:m>
                <a:endParaRPr lang="en-US" sz="18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9D3D318-EC74-D087-CF09-1A99DA87D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0875" y="4441513"/>
                <a:ext cx="399597" cy="276999"/>
              </a:xfrm>
              <a:prstGeom prst="rect">
                <a:avLst/>
              </a:prstGeom>
              <a:blipFill>
                <a:blip r:embed="rId12"/>
                <a:stretch>
                  <a:fillRect l="-13636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51BB91E-DC0D-E62A-2058-8E3AEE47B52C}"/>
                  </a:ext>
                </a:extLst>
              </p:cNvPr>
              <p:cNvSpPr txBox="1"/>
              <p:nvPr/>
            </p:nvSpPr>
            <p:spPr>
              <a:xfrm>
                <a:off x="4832565" y="5400972"/>
                <a:ext cx="6992976" cy="830997"/>
              </a:xfrm>
              <a:prstGeom prst="rect">
                <a:avLst/>
              </a:prstGeom>
              <a:solidFill>
                <a:schemeClr val="lt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We can use these equations to convert cartesian coordinates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en-US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into polar coordinates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𝜓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𝜃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𝑑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en-US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51BB91E-DC0D-E62A-2058-8E3AEE47B5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2565" y="5400972"/>
                <a:ext cx="6992976" cy="830997"/>
              </a:xfrm>
              <a:prstGeom prst="rect">
                <a:avLst/>
              </a:prstGeom>
              <a:blipFill>
                <a:blip r:embed="rId13"/>
                <a:stretch>
                  <a:fillRect l="-1305" t="-5072" b="-1521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Oval 44">
            <a:extLst>
              <a:ext uri="{FF2B5EF4-FFF2-40B4-BE49-F238E27FC236}">
                <a16:creationId xmlns:a16="http://schemas.microsoft.com/office/drawing/2014/main" id="{1949731E-15E0-8394-B2E0-3DF660DFF227}"/>
              </a:ext>
            </a:extLst>
          </p:cNvPr>
          <p:cNvSpPr/>
          <p:nvPr/>
        </p:nvSpPr>
        <p:spPr>
          <a:xfrm>
            <a:off x="852922" y="1342789"/>
            <a:ext cx="3442815" cy="88053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158646A-D141-F1F6-BCB4-A5F556AF4D55}"/>
              </a:ext>
            </a:extLst>
          </p:cNvPr>
          <p:cNvSpPr/>
          <p:nvPr/>
        </p:nvSpPr>
        <p:spPr>
          <a:xfrm>
            <a:off x="824972" y="4039317"/>
            <a:ext cx="2803316" cy="67907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633EF35C-4CEA-8DBE-1298-C072ADE584B1}"/>
              </a:ext>
            </a:extLst>
          </p:cNvPr>
          <p:cNvSpPr/>
          <p:nvPr/>
        </p:nvSpPr>
        <p:spPr>
          <a:xfrm>
            <a:off x="916444" y="5374310"/>
            <a:ext cx="2803316" cy="67907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61E0738-2AFA-3C1C-821D-1DAC21418D45}"/>
              </a:ext>
            </a:extLst>
          </p:cNvPr>
          <p:cNvCxnSpPr>
            <a:cxnSpLocks/>
            <a:stCxn id="44" idx="1"/>
            <a:endCxn id="45" idx="5"/>
          </p:cNvCxnSpPr>
          <p:nvPr/>
        </p:nvCxnSpPr>
        <p:spPr>
          <a:xfrm flipH="1" flipV="1">
            <a:off x="3791548" y="2094372"/>
            <a:ext cx="1041017" cy="372209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0DE9EA1-3286-7369-690C-F866F390F074}"/>
              </a:ext>
            </a:extLst>
          </p:cNvPr>
          <p:cNvCxnSpPr>
            <a:cxnSpLocks/>
            <a:stCxn id="44" idx="1"/>
            <a:endCxn id="46" idx="6"/>
          </p:cNvCxnSpPr>
          <p:nvPr/>
        </p:nvCxnSpPr>
        <p:spPr>
          <a:xfrm flipH="1" flipV="1">
            <a:off x="3628288" y="4378852"/>
            <a:ext cx="1204277" cy="143761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31A3CEB0-EBD3-3213-AA2D-74366FDC3C10}"/>
              </a:ext>
            </a:extLst>
          </p:cNvPr>
          <p:cNvCxnSpPr>
            <a:cxnSpLocks/>
            <a:stCxn id="44" idx="1"/>
            <a:endCxn id="47" idx="6"/>
          </p:cNvCxnSpPr>
          <p:nvPr/>
        </p:nvCxnSpPr>
        <p:spPr>
          <a:xfrm flipH="1" flipV="1">
            <a:off x="3719760" y="5713845"/>
            <a:ext cx="1112805" cy="10262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>
            <a:extLst>
              <a:ext uri="{FF2B5EF4-FFF2-40B4-BE49-F238E27FC236}">
                <a16:creationId xmlns:a16="http://schemas.microsoft.com/office/drawing/2014/main" id="{9B3CD587-C751-5CEE-2F57-05A7D75E4BB6}"/>
              </a:ext>
            </a:extLst>
          </p:cNvPr>
          <p:cNvSpPr/>
          <p:nvPr/>
        </p:nvSpPr>
        <p:spPr>
          <a:xfrm>
            <a:off x="893456" y="2482500"/>
            <a:ext cx="2896480" cy="81858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15FECBE-7E8C-B7FD-4F28-AFA58686B71B}"/>
              </a:ext>
            </a:extLst>
          </p:cNvPr>
          <p:cNvCxnSpPr>
            <a:cxnSpLocks/>
            <a:stCxn id="44" idx="1"/>
            <a:endCxn id="51" idx="5"/>
          </p:cNvCxnSpPr>
          <p:nvPr/>
        </p:nvCxnSpPr>
        <p:spPr>
          <a:xfrm flipH="1" flipV="1">
            <a:off x="3365756" y="3181208"/>
            <a:ext cx="1466809" cy="2635263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7724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2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50"/>
                            </p:stCondLst>
                            <p:childTnLst>
                              <p:par>
                                <p:cTn id="1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2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750"/>
                            </p:stCondLst>
                            <p:childTnLst>
                              <p:par>
                                <p:cTn id="23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5" dur="2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250"/>
                            </p:stCondLst>
                            <p:childTnLst>
                              <p:par>
                                <p:cTn id="31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3" dur="2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2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750"/>
                            </p:stCondLst>
                            <p:childTnLst>
                              <p:par>
                                <p:cTn id="3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1" dur="2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45" grpId="0" animBg="1"/>
      <p:bldP spid="46" grpId="0" animBg="1"/>
      <p:bldP spid="47" grpId="0" animBg="1"/>
      <p:bldP spid="5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FC217-ED0B-59AD-CF34-A41A453C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75CE3-12B9-B132-6173-1F19E1807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9439"/>
          </a:xfrm>
        </p:spPr>
        <p:txBody>
          <a:bodyPr/>
          <a:lstStyle/>
          <a:p>
            <a:r>
              <a:rPr lang="en-US" dirty="0"/>
              <a:t>What About Quaternions?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7924D0-8EED-CCCF-B87F-95B1861BE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472" y="1490472"/>
            <a:ext cx="8037576" cy="3941064"/>
          </a:xfrm>
          <a:solidFill>
            <a:schemeClr val="bg1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sz="2400" dirty="0"/>
              <a:t>Quaternions are Great!</a:t>
            </a:r>
          </a:p>
          <a:p>
            <a:r>
              <a:rPr lang="en-US" sz="2400" dirty="0"/>
              <a:t>Most Things in Games are Based on Single-Axis Rotations</a:t>
            </a:r>
          </a:p>
          <a:p>
            <a:pPr lvl="1"/>
            <a:r>
              <a:rPr lang="en-US" sz="1800" dirty="0"/>
              <a:t>Often 2 of these on separate hinges linked together (Altazimuth)</a:t>
            </a:r>
          </a:p>
          <a:p>
            <a:r>
              <a:rPr lang="en-US" sz="2400" dirty="0"/>
              <a:t>In-Game Cameras are Azimuth, Elevation, and Distance</a:t>
            </a:r>
          </a:p>
          <a:p>
            <a:pPr lvl="1"/>
            <a:r>
              <a:rPr lang="en-US" sz="1800" dirty="0"/>
              <a:t>Polar Coordinates (Spherical or Cylindrical)</a:t>
            </a:r>
          </a:p>
          <a:p>
            <a:r>
              <a:rPr lang="en-US" sz="2400" dirty="0"/>
              <a:t>We CAN do these rotations with Quaternions</a:t>
            </a:r>
          </a:p>
          <a:p>
            <a:pPr lvl="1"/>
            <a:r>
              <a:rPr lang="en-US" sz="1800" dirty="0"/>
              <a:t>But you’d be making single-axis rotations with quaternions</a:t>
            </a:r>
          </a:p>
          <a:p>
            <a:pPr lvl="1"/>
            <a:r>
              <a:rPr lang="en-US" sz="1800" dirty="0"/>
              <a:t>Overkill!</a:t>
            </a:r>
          </a:p>
          <a:p>
            <a:pPr lvl="1"/>
            <a:r>
              <a:rPr lang="en-US" sz="1800" dirty="0"/>
              <a:t>Why not just use the Euler Angles?</a:t>
            </a:r>
          </a:p>
          <a:p>
            <a:pPr lvl="1"/>
            <a:r>
              <a:rPr lang="en-US" sz="1800" dirty="0"/>
              <a:t>Is it because you were told Gimbal Lock is Bad?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FB083A0-2CB0-E53B-2C18-A3D5924C5C43}"/>
              </a:ext>
            </a:extLst>
          </p:cNvPr>
          <p:cNvSpPr txBox="1">
            <a:spLocks/>
          </p:cNvSpPr>
          <p:nvPr/>
        </p:nvSpPr>
        <p:spPr>
          <a:xfrm>
            <a:off x="6958584" y="4712732"/>
            <a:ext cx="4885944" cy="178014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What About Full-Motion 3D?</a:t>
            </a:r>
          </a:p>
          <a:p>
            <a:pPr lvl="1"/>
            <a:r>
              <a:rPr lang="en-US" sz="1800" dirty="0"/>
              <a:t>Use a Quaternion or a Rotation Matrix</a:t>
            </a:r>
          </a:p>
          <a:p>
            <a:r>
              <a:rPr lang="en-US" sz="2200" dirty="0"/>
              <a:t>What About Animation?</a:t>
            </a:r>
          </a:p>
          <a:p>
            <a:pPr lvl="1"/>
            <a:r>
              <a:rPr lang="en-US" sz="1800" dirty="0"/>
              <a:t>You can use Euler (Maya does)</a:t>
            </a:r>
          </a:p>
          <a:p>
            <a:pPr lvl="1"/>
            <a:r>
              <a:rPr lang="en-US" sz="1800" dirty="0"/>
              <a:t>But I recommend Quaternions</a:t>
            </a:r>
          </a:p>
        </p:txBody>
      </p:sp>
    </p:spTree>
    <p:extLst>
      <p:ext uri="{BB962C8B-B14F-4D97-AF65-F5344CB8AC3E}">
        <p14:creationId xmlns:p14="http://schemas.microsoft.com/office/powerpoint/2010/main" val="1101894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414</TotalTime>
  <Words>565</Words>
  <Application>Microsoft Office PowerPoint</Application>
  <PresentationFormat>Widescreen</PresentationFormat>
  <Paragraphs>157</Paragraphs>
  <Slides>13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Cambria Math</vt:lpstr>
      <vt:lpstr>Office Theme</vt:lpstr>
      <vt:lpstr>In Defense of Euler Angles in Game Programming</vt:lpstr>
      <vt:lpstr>Gimbal Lock</vt:lpstr>
      <vt:lpstr>PowerPoint Presentation</vt:lpstr>
      <vt:lpstr>PowerPoint Presentation</vt:lpstr>
      <vt:lpstr>Altazimuth (Az/El) Mounts</vt:lpstr>
      <vt:lpstr>Altazimuth (Az/El) Mounts</vt:lpstr>
      <vt:lpstr>In-Game Camera</vt:lpstr>
      <vt:lpstr>In-Game Camera</vt:lpstr>
      <vt:lpstr>In-Game Camera</vt:lpstr>
      <vt:lpstr>Spherical Polar Coordinates</vt:lpstr>
      <vt:lpstr>Spherical Polar Coordinates</vt:lpstr>
      <vt:lpstr>Spherical Polar Coordinates</vt:lpstr>
      <vt:lpstr>What About Quaternions?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 Whiting</dc:creator>
  <cp:lastModifiedBy>Matt Whiting</cp:lastModifiedBy>
  <cp:revision>20</cp:revision>
  <dcterms:created xsi:type="dcterms:W3CDTF">2026-05-14T21:18:47Z</dcterms:created>
  <dcterms:modified xsi:type="dcterms:W3CDTF">2026-07-11T03:49:44Z</dcterms:modified>
</cp:coreProperties>
</file>