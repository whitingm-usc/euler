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60" r:id="rId2"/>
    <p:sldId id="261" r:id="rId3"/>
    <p:sldId id="258" r:id="rId4"/>
    <p:sldId id="259" r:id="rId5"/>
    <p:sldId id="256" r:id="rId6"/>
    <p:sldId id="257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5192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909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367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0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29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054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172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050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70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950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37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358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9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10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130.png"/><Relationship Id="rId7" Type="http://schemas.openxmlformats.org/officeDocument/2006/relationships/image" Target="../media/image170.png"/><Relationship Id="rId12" Type="http://schemas.openxmlformats.org/officeDocument/2006/relationships/image" Target="../media/image110.pn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0.png"/><Relationship Id="rId11" Type="http://schemas.openxmlformats.org/officeDocument/2006/relationships/image" Target="../media/image100.png"/><Relationship Id="rId5" Type="http://schemas.openxmlformats.org/officeDocument/2006/relationships/image" Target="../media/image150.png"/><Relationship Id="rId10" Type="http://schemas.openxmlformats.org/officeDocument/2006/relationships/image" Target="../media/image20.png"/><Relationship Id="rId4" Type="http://schemas.openxmlformats.org/officeDocument/2006/relationships/image" Target="../media/image140.png"/><Relationship Id="rId9" Type="http://schemas.openxmlformats.org/officeDocument/2006/relationships/image" Target="../media/image1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3F631-0DEB-C089-3FA9-9744804F6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962784" cy="1807305"/>
          </a:xfrm>
        </p:spPr>
        <p:txBody>
          <a:bodyPr>
            <a:normAutofit/>
          </a:bodyPr>
          <a:lstStyle/>
          <a:p>
            <a:r>
              <a:rPr lang="en-US" sz="4100" dirty="0"/>
              <a:t>In Defense of Euler Angles</a:t>
            </a:r>
            <a:br>
              <a:rPr lang="en-US" sz="4100" dirty="0"/>
            </a:br>
            <a:r>
              <a:rPr lang="en-US" sz="4100" dirty="0"/>
              <a:t>in Game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830BE-5C77-A567-344A-5F735CCFB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3297"/>
            <a:ext cx="4619621" cy="38436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Matthew Whiting</a:t>
            </a:r>
          </a:p>
          <a:p>
            <a:pPr marL="0" indent="0">
              <a:buNone/>
            </a:pPr>
            <a:r>
              <a:rPr lang="en-US" sz="2000" dirty="0"/>
              <a:t>University of Southern California</a:t>
            </a:r>
          </a:p>
          <a:p>
            <a:pPr marL="0" indent="0">
              <a:buNone/>
            </a:pPr>
            <a:r>
              <a:rPr lang="en-US" sz="2000" dirty="0"/>
              <a:t>Los Angeles, California, USA</a:t>
            </a:r>
          </a:p>
          <a:p>
            <a:pPr marL="0" indent="0">
              <a:buNone/>
            </a:pPr>
            <a:r>
              <a:rPr lang="en-US" sz="2000" dirty="0"/>
              <a:t>whitingm@usc.edu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94F8A7-CC56-A486-9B26-ACA9B039D5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84" r="5010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408501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26A33-A5AF-F2A2-C3AA-BD9D23377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/>
              <a:t>Gimbal Lock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F5B7CE-AE01-8C86-F5A9-530E8D500E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" y="2272367"/>
            <a:ext cx="4660415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19DB2C-D9D7-0629-7E63-518E10195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135" y="1500062"/>
            <a:ext cx="2453069" cy="21919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4FC098-21F9-C1E3-C5B2-8177C83FE5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8513" y="3786666"/>
            <a:ext cx="3180588" cy="2837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EEC9E30-1011-5A52-F171-7161D187071D}"/>
              </a:ext>
            </a:extLst>
          </p:cNvPr>
          <p:cNvSpPr txBox="1"/>
          <p:nvPr/>
        </p:nvSpPr>
        <p:spPr>
          <a:xfrm>
            <a:off x="6455664" y="669065"/>
            <a:ext cx="23405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Suffer from “Gimbal Lock”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5B3BBC5-B653-59B0-CAC7-6D9C84400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0359" y="724844"/>
            <a:ext cx="2351330" cy="217262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89BC05-2534-9034-8D8D-65843DAA75E1}"/>
              </a:ext>
            </a:extLst>
          </p:cNvPr>
          <p:cNvSpPr txBox="1"/>
          <p:nvPr/>
        </p:nvSpPr>
        <p:spPr>
          <a:xfrm>
            <a:off x="342899" y="1810702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Euler Angles are Intuitive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370836-F2DE-A558-F39D-5667BEE2CCA3}"/>
              </a:ext>
            </a:extLst>
          </p:cNvPr>
          <p:cNvSpPr txBox="1"/>
          <p:nvPr/>
        </p:nvSpPr>
        <p:spPr>
          <a:xfrm>
            <a:off x="8965753" y="2897473"/>
            <a:ext cx="23459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Lost “Degree of Freedom”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7586EB-5B2E-E3C8-1A70-0521A592C072}"/>
              </a:ext>
            </a:extLst>
          </p:cNvPr>
          <p:cNvSpPr txBox="1"/>
          <p:nvPr/>
        </p:nvSpPr>
        <p:spPr>
          <a:xfrm>
            <a:off x="5279999" y="4032537"/>
            <a:ext cx="33885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Euler Angles are </a:t>
            </a:r>
            <a:r>
              <a:rPr lang="en-US" sz="2400" b="1" dirty="0"/>
              <a:t>Discontinuous</a:t>
            </a:r>
            <a:br>
              <a:rPr lang="en-US" sz="2400" b="1" dirty="0"/>
            </a:br>
            <a:r>
              <a:rPr lang="en-US" sz="2400" dirty="0"/>
              <a:t>at the Poles</a:t>
            </a:r>
          </a:p>
        </p:txBody>
      </p:sp>
    </p:spTree>
    <p:extLst>
      <p:ext uri="{BB962C8B-B14F-4D97-AF65-F5344CB8AC3E}">
        <p14:creationId xmlns:p14="http://schemas.microsoft.com/office/powerpoint/2010/main" val="3119969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08DF32-6843-271E-385E-8FD16F2FEF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12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08DF32-6843-271E-385E-8FD16F2FEF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  <a:blipFill>
                <a:blip r:embed="rId2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0BA26F9F-969F-2B79-0BDC-315A5D18984C}"/>
              </a:ext>
            </a:extLst>
          </p:cNvPr>
          <p:cNvSpPr/>
          <p:nvPr/>
        </p:nvSpPr>
        <p:spPr>
          <a:xfrm>
            <a:off x="2762226" y="2384210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2169BF2-DB05-CE05-702C-D00C1CCBD36F}"/>
              </a:ext>
            </a:extLst>
          </p:cNvPr>
          <p:cNvSpPr/>
          <p:nvPr/>
        </p:nvSpPr>
        <p:spPr>
          <a:xfrm>
            <a:off x="4198481" y="2384210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B8D0496-FCB5-CE0E-65D8-A4F5A6B8512D}"/>
              </a:ext>
            </a:extLst>
          </p:cNvPr>
          <p:cNvSpPr/>
          <p:nvPr/>
        </p:nvSpPr>
        <p:spPr>
          <a:xfrm>
            <a:off x="3053172" y="2948696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A75A0B5-B528-1764-8D7A-7E6EC89FF589}"/>
              </a:ext>
            </a:extLst>
          </p:cNvPr>
          <p:cNvSpPr/>
          <p:nvPr/>
        </p:nvSpPr>
        <p:spPr>
          <a:xfrm>
            <a:off x="5357644" y="2948696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83F520-EE07-64B8-A588-7A2FCF841BA1}"/>
                  </a:ext>
                </a:extLst>
              </p:cNvPr>
              <p:cNvSpPr txBox="1"/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 roll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pitch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yaw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/>
                  <a:t>  body axis roll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0" dirty="0"/>
                  <a:t>  body axis pitch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 body axis yaw rate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83F520-EE07-64B8-A588-7A2FCF841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blipFill>
                <a:blip r:embed="rId3"/>
                <a:stretch>
                  <a:fillRect l="-540" t="-1201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2EC155-436A-19B8-D2C6-094A76AF7C67}"/>
                  </a:ext>
                </a:extLst>
              </p:cNvPr>
              <p:cNvSpPr txBox="1"/>
              <p:nvPr/>
            </p:nvSpPr>
            <p:spPr>
              <a:xfrm>
                <a:off x="662985" y="4604558"/>
                <a:ext cx="6677891" cy="663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When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dirty="0"/>
                  <a:t> hits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800" dirty="0"/>
                  <a:t>, we get singularities here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2EC155-436A-19B8-D2C6-094A76AF7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5" y="4604558"/>
                <a:ext cx="6677891" cy="663836"/>
              </a:xfrm>
              <a:prstGeom prst="rect">
                <a:avLst/>
              </a:prstGeom>
              <a:blipFill>
                <a:blip r:embed="rId4"/>
                <a:stretch>
                  <a:fillRect l="-1918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966C09-2500-4083-33B2-98A381D0B5AD}"/>
                  </a:ext>
                </a:extLst>
              </p:cNvPr>
              <p:cNvSpPr txBox="1"/>
              <p:nvPr/>
            </p:nvSpPr>
            <p:spPr>
              <a:xfrm>
                <a:off x="662984" y="5268394"/>
                <a:ext cx="6677891" cy="14251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sz="2800" dirty="0"/>
                  <a:t> is fine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</m:acc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acc>
                  </m:oMath>
                </a14:m>
                <a:r>
                  <a:rPr lang="en-US" sz="2800" dirty="0"/>
                  <a:t> approach infinity</a:t>
                </a:r>
              </a:p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discontinuous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966C09-2500-4083-33B2-98A381D0B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4" y="5268394"/>
                <a:ext cx="6677891" cy="1425134"/>
              </a:xfrm>
              <a:prstGeom prst="rect">
                <a:avLst/>
              </a:prstGeom>
              <a:blipFill>
                <a:blip r:embed="rId5"/>
                <a:stretch>
                  <a:fillRect t="-256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F24FA0E5-D397-FF5C-9FDF-D4FFA7AB47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39099" y="2899104"/>
            <a:ext cx="3789219" cy="33933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5347251-8ACF-E5A0-5FDF-7A05E168E62E}"/>
              </a:ext>
            </a:extLst>
          </p:cNvPr>
          <p:cNvSpPr txBox="1"/>
          <p:nvPr/>
        </p:nvSpPr>
        <p:spPr>
          <a:xfrm>
            <a:off x="756550" y="264218"/>
            <a:ext cx="5821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Gimbal Lock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1323F66-D1AD-E8A6-C369-639D5176FBDE}"/>
              </a:ext>
            </a:extLst>
          </p:cNvPr>
          <p:cNvCxnSpPr>
            <a:cxnSpLocks/>
            <a:endCxn id="4" idx="5"/>
          </p:cNvCxnSpPr>
          <p:nvPr/>
        </p:nvCxnSpPr>
        <p:spPr>
          <a:xfrm flipH="1" flipV="1">
            <a:off x="3534910" y="2813479"/>
            <a:ext cx="2950654" cy="189481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17562E-AFA5-46A9-BB4D-BBC4457831D7}"/>
              </a:ext>
            </a:extLst>
          </p:cNvPr>
          <p:cNvCxnSpPr>
            <a:cxnSpLocks/>
            <a:endCxn id="5" idx="4"/>
          </p:cNvCxnSpPr>
          <p:nvPr/>
        </p:nvCxnSpPr>
        <p:spPr>
          <a:xfrm flipH="1" flipV="1">
            <a:off x="4651109" y="2887130"/>
            <a:ext cx="1834455" cy="1825079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C18BEF-84F4-DBFC-9C45-6EB0191BEAAF}"/>
              </a:ext>
            </a:extLst>
          </p:cNvPr>
          <p:cNvCxnSpPr>
            <a:cxnSpLocks/>
            <a:endCxn id="6" idx="5"/>
          </p:cNvCxnSpPr>
          <p:nvPr/>
        </p:nvCxnSpPr>
        <p:spPr>
          <a:xfrm flipH="1" flipV="1">
            <a:off x="3825856" y="3377965"/>
            <a:ext cx="2657074" cy="1330326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91512B6-C2C9-0917-B62F-17586D9DD119}"/>
              </a:ext>
            </a:extLst>
          </p:cNvPr>
          <p:cNvCxnSpPr>
            <a:cxnSpLocks/>
            <a:endCxn id="7" idx="4"/>
          </p:cNvCxnSpPr>
          <p:nvPr/>
        </p:nvCxnSpPr>
        <p:spPr>
          <a:xfrm flipH="1" flipV="1">
            <a:off x="5810272" y="3451616"/>
            <a:ext cx="672658" cy="125667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9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500"/>
                            </p:stCondLst>
                            <p:childTnLst>
                              <p:par>
                                <p:cTn id="31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0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500"/>
                            </p:stCondLst>
                            <p:childTnLst>
                              <p:par>
                                <p:cTn id="3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D29C6-DEF8-0C9C-5878-6B81FC790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7FA98D-E016-2017-3F51-EBDAAC7A1A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39099" y="2899104"/>
            <a:ext cx="3789219" cy="33933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8FA53A-081E-A0C9-2591-B7787F5C3B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12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8FA53A-081E-A0C9-2591-B7787F5C3B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  <a:blipFill>
                <a:blip r:embed="rId3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2BED82-259D-A054-9688-F10B85B7612E}"/>
                  </a:ext>
                </a:extLst>
              </p:cNvPr>
              <p:cNvSpPr txBox="1"/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 roll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pitch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yaw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/>
                  <a:t>  body axis roll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0" dirty="0"/>
                  <a:t>  body axis pitch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 body axis yaw rate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2BED82-259D-A054-9688-F10B85B7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blipFill>
                <a:blip r:embed="rId4"/>
                <a:stretch>
                  <a:fillRect l="-540" t="-1201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6BBA43-E2D3-4C41-1957-FAE81B8A5263}"/>
                  </a:ext>
                </a:extLst>
              </p:cNvPr>
              <p:cNvSpPr txBox="1"/>
              <p:nvPr/>
            </p:nvSpPr>
            <p:spPr>
              <a:xfrm>
                <a:off x="662985" y="4604558"/>
                <a:ext cx="709112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At the poles,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interchangeable.</a:t>
                </a:r>
                <a:br>
                  <a:rPr lang="en-US" sz="2800" dirty="0"/>
                </a:br>
                <a:r>
                  <a:rPr lang="en-US" sz="2800" dirty="0"/>
                  <a:t>Any combination of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equally valid.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6BBA43-E2D3-4C41-1957-FAE81B8A5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5" y="4604558"/>
                <a:ext cx="7091127" cy="954107"/>
              </a:xfrm>
              <a:prstGeom prst="rect">
                <a:avLst/>
              </a:prstGeom>
              <a:blipFill>
                <a:blip r:embed="rId5"/>
                <a:stretch>
                  <a:fillRect l="-1806" t="-6369" b="-16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4EA90B91-9704-9F3A-E3FC-05C3400E5443}"/>
              </a:ext>
            </a:extLst>
          </p:cNvPr>
          <p:cNvSpPr txBox="1"/>
          <p:nvPr/>
        </p:nvSpPr>
        <p:spPr>
          <a:xfrm>
            <a:off x="756550" y="264218"/>
            <a:ext cx="5821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Gimbal Lock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099C660B-877D-C133-0D0C-F6DB828B4F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1036" y="1262207"/>
                <a:ext cx="6001882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099C660B-877D-C133-0D0C-F6DB828B4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036" y="1262207"/>
                <a:ext cx="6001882" cy="4351338"/>
              </a:xfrm>
              <a:prstGeom prst="rect">
                <a:avLst/>
              </a:prstGeom>
              <a:blipFill>
                <a:blip r:embed="rId6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9F0086A-9F52-C529-4373-C714A0951E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39099" y="2904413"/>
            <a:ext cx="3789219" cy="3382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825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6D9CCA3-F928-388A-3C8C-07AB309503F9}"/>
              </a:ext>
            </a:extLst>
          </p:cNvPr>
          <p:cNvGrpSpPr/>
          <p:nvPr/>
        </p:nvGrpSpPr>
        <p:grpSpPr>
          <a:xfrm>
            <a:off x="-384048" y="170390"/>
            <a:ext cx="10656862" cy="9776841"/>
            <a:chOff x="-384048" y="170390"/>
            <a:chExt cx="10656862" cy="9776841"/>
          </a:xfrm>
        </p:grpSpPr>
        <p:sp>
          <p:nvSpPr>
            <p:cNvPr id="5" name="Arc 4">
              <a:extLst>
                <a:ext uri="{FF2B5EF4-FFF2-40B4-BE49-F238E27FC236}">
                  <a16:creationId xmlns:a16="http://schemas.microsoft.com/office/drawing/2014/main" id="{E0DAF8F2-CECA-850D-74D2-11CD4C55A2C5}"/>
                </a:ext>
              </a:extLst>
            </p:cNvPr>
            <p:cNvSpPr/>
            <p:nvPr/>
          </p:nvSpPr>
          <p:spPr>
            <a:xfrm>
              <a:off x="-384048" y="2903633"/>
              <a:ext cx="7043597" cy="7043598"/>
            </a:xfrm>
            <a:prstGeom prst="arc">
              <a:avLst>
                <a:gd name="adj1" fmla="val 19140031"/>
                <a:gd name="adj2" fmla="val 20952757"/>
              </a:avLst>
            </a:prstGeom>
            <a:ln>
              <a:solidFill>
                <a:srgbClr val="00B050"/>
              </a:solidFill>
              <a:headEnd type="triangle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Arc 5">
              <a:extLst>
                <a:ext uri="{FF2B5EF4-FFF2-40B4-BE49-F238E27FC236}">
                  <a16:creationId xmlns:a16="http://schemas.microsoft.com/office/drawing/2014/main" id="{BD5147D0-E90A-8D1D-0761-F2EC951147F7}"/>
                </a:ext>
              </a:extLst>
            </p:cNvPr>
            <p:cNvSpPr/>
            <p:nvPr/>
          </p:nvSpPr>
          <p:spPr>
            <a:xfrm>
              <a:off x="115172" y="4985892"/>
              <a:ext cx="6039420" cy="2879071"/>
            </a:xfrm>
            <a:prstGeom prst="arc">
              <a:avLst>
                <a:gd name="adj1" fmla="val 20099205"/>
                <a:gd name="adj2" fmla="val 20930158"/>
              </a:avLst>
            </a:prstGeom>
            <a:ln>
              <a:solidFill>
                <a:srgbClr val="FF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Rocket with solid fill">
              <a:extLst>
                <a:ext uri="{FF2B5EF4-FFF2-40B4-BE49-F238E27FC236}">
                  <a16:creationId xmlns:a16="http://schemas.microsoft.com/office/drawing/2014/main" id="{846F4719-B6F8-7754-F5DB-F292C0D701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6200000">
              <a:off x="8783259" y="882083"/>
              <a:ext cx="707248" cy="707248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ABCFEB-04F8-6F6D-3C7E-FE10E7196AAC}"/>
                </a:ext>
              </a:extLst>
            </p:cNvPr>
            <p:cNvCxnSpPr>
              <a:cxnSpLocks/>
            </p:cNvCxnSpPr>
            <p:nvPr/>
          </p:nvCxnSpPr>
          <p:spPr>
            <a:xfrm>
              <a:off x="3140767" y="395757"/>
              <a:ext cx="0" cy="6023267"/>
            </a:xfrm>
            <a:prstGeom prst="line">
              <a:avLst/>
            </a:prstGeom>
            <a:ln w="254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25C8C45-A5A6-3A90-5A55-EA56C07C3C4F}"/>
                </a:ext>
              </a:extLst>
            </p:cNvPr>
            <p:cNvCxnSpPr>
              <a:cxnSpLocks/>
            </p:cNvCxnSpPr>
            <p:nvPr/>
          </p:nvCxnSpPr>
          <p:spPr>
            <a:xfrm>
              <a:off x="3140765" y="6425427"/>
              <a:ext cx="697249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BE3BF8E-D465-796C-2C36-11C89A11F9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0763" y="4512064"/>
              <a:ext cx="4004891" cy="1906960"/>
            </a:xfrm>
            <a:prstGeom prst="line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04D894F-2519-50A4-DCE4-1754EBA8BB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0767" y="5263574"/>
              <a:ext cx="5864396" cy="1161851"/>
            </a:xfrm>
            <a:prstGeom prst="line">
              <a:avLst/>
            </a:prstGeom>
            <a:ln w="1905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47A95F2-731B-A6CE-C4D3-61B3A63758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05161" y="1238643"/>
              <a:ext cx="0" cy="4024931"/>
            </a:xfrm>
            <a:prstGeom prst="line">
              <a:avLst/>
            </a:prstGeom>
            <a:ln w="12700">
              <a:solidFill>
                <a:srgbClr val="00B05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285C12-7599-9CA9-CCBB-311CFC38C3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0765" y="1238643"/>
              <a:ext cx="5867411" cy="5186782"/>
            </a:xfrm>
            <a:prstGeom prst="line">
              <a:avLst/>
            </a:prstGeom>
            <a:ln w="19050">
              <a:solidFill>
                <a:srgbClr val="7030A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476F837-46D8-2E64-6D5D-40ECE62921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35795" y="5273749"/>
              <a:ext cx="3474620" cy="0"/>
            </a:xfrm>
            <a:prstGeom prst="line">
              <a:avLst/>
            </a:prstGeom>
            <a:ln w="127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0B47472-41A6-E6C8-7A21-F7226D1678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1988" y="5263572"/>
              <a:ext cx="2433173" cy="1158573"/>
            </a:xfrm>
            <a:prstGeom prst="line">
              <a:avLst/>
            </a:prstGeom>
            <a:ln w="12700"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3DD6938-CCAA-5C1C-810E-31DEE0AA5002}"/>
                    </a:ext>
                  </a:extLst>
                </p:cNvPr>
                <p:cNvSpPr txBox="1"/>
                <p:nvPr/>
              </p:nvSpPr>
              <p:spPr>
                <a:xfrm>
                  <a:off x="9097477" y="629423"/>
                  <a:ext cx="26077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3DD6938-CCAA-5C1C-810E-31DEE0AA50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7477" y="629423"/>
                  <a:ext cx="260777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7907" r="-25581"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A7C3EDF-B0E7-2E49-73AC-E19BEFC31302}"/>
                    </a:ext>
                  </a:extLst>
                </p:cNvPr>
                <p:cNvSpPr txBox="1"/>
                <p:nvPr/>
              </p:nvSpPr>
              <p:spPr>
                <a:xfrm>
                  <a:off x="7637518" y="4869288"/>
                  <a:ext cx="34503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A7C3EDF-B0E7-2E49-73AC-E19BEFC31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7518" y="4869288"/>
                  <a:ext cx="345031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214" r="-1786"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BB07DB2-FE4D-A151-BFF7-17A0FBF0C185}"/>
                    </a:ext>
                  </a:extLst>
                </p:cNvPr>
                <p:cNvSpPr txBox="1"/>
                <p:nvPr/>
              </p:nvSpPr>
              <p:spPr>
                <a:xfrm>
                  <a:off x="9032708" y="3150979"/>
                  <a:ext cx="354071" cy="3985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BB07DB2-FE4D-A151-BFF7-17A0FBF0C1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2708" y="3150979"/>
                  <a:ext cx="354071" cy="398507"/>
                </a:xfrm>
                <a:prstGeom prst="rect">
                  <a:avLst/>
                </a:prstGeom>
                <a:blipFill>
                  <a:blip r:embed="rId5"/>
                  <a:stretch>
                    <a:fillRect l="-22414" r="-6897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6C2D196-E580-99FF-AC0C-1A9D96F6DFFC}"/>
                    </a:ext>
                  </a:extLst>
                </p:cNvPr>
                <p:cNvSpPr txBox="1"/>
                <p:nvPr/>
              </p:nvSpPr>
              <p:spPr>
                <a:xfrm>
                  <a:off x="8114522" y="5664723"/>
                  <a:ext cx="329513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6C2D196-E580-99FF-AC0C-1A9D96F6D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4522" y="5664723"/>
                  <a:ext cx="329513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2222" r="-3704"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6A3EFA3-7AEC-2997-3EFF-C9645DB66444}"/>
                    </a:ext>
                  </a:extLst>
                </p:cNvPr>
                <p:cNvSpPr txBox="1"/>
                <p:nvPr/>
              </p:nvSpPr>
              <p:spPr>
                <a:xfrm>
                  <a:off x="6096000" y="4210681"/>
                  <a:ext cx="24468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6A3EFA3-7AEC-2997-3EFF-C9645DB664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4210681"/>
                  <a:ext cx="244682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0000" r="-25000" b="-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9EF86B3-F1B9-C309-366C-0CC52AE4519F}"/>
                    </a:ext>
                  </a:extLst>
                </p:cNvPr>
                <p:cNvSpPr txBox="1"/>
                <p:nvPr/>
              </p:nvSpPr>
              <p:spPr>
                <a:xfrm>
                  <a:off x="5175072" y="5480057"/>
                  <a:ext cx="30296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Ψ</m:t>
                        </m:r>
                      </m:oMath>
                    </m:oMathPara>
                  </a14:m>
                  <a:endParaRPr lang="en-US" sz="2400" b="0" dirty="0">
                    <a:solidFill>
                      <a:srgbClr val="00B050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9EF86B3-F1B9-C309-366C-0CC52AE451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5072" y="5480057"/>
                  <a:ext cx="302967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6000" r="-22000" b="-32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C660C90-C6DD-FCB9-EF10-C6D3D2377306}"/>
                    </a:ext>
                  </a:extLst>
                </p:cNvPr>
                <p:cNvSpPr txBox="1"/>
                <p:nvPr/>
              </p:nvSpPr>
              <p:spPr>
                <a:xfrm>
                  <a:off x="6709741" y="2655430"/>
                  <a:ext cx="25019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24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C660C90-C6DD-FCB9-EF10-C6D3D2377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741" y="2655430"/>
                  <a:ext cx="250197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31707" r="-26829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18F9B95-5C75-3FCE-D200-0807BF119F69}"/>
                    </a:ext>
                  </a:extLst>
                </p:cNvPr>
                <p:cNvSpPr txBox="1"/>
                <p:nvPr/>
              </p:nvSpPr>
              <p:spPr>
                <a:xfrm>
                  <a:off x="5326556" y="5976025"/>
                  <a:ext cx="50981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𝑥𝑧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18F9B95-5C75-3FCE-D200-0807BF119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556" y="5976025"/>
                  <a:ext cx="509819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5663" r="-2410"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15F0B8C-E755-EAAB-9AB4-D16AD49266D2}"/>
                    </a:ext>
                  </a:extLst>
                </p:cNvPr>
                <p:cNvSpPr txBox="1"/>
                <p:nvPr/>
              </p:nvSpPr>
              <p:spPr>
                <a:xfrm>
                  <a:off x="10095906" y="6142025"/>
                  <a:ext cx="17690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15F0B8C-E755-EAAB-9AB4-D16AD49266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5906" y="6142025"/>
                  <a:ext cx="176908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20690" r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9973784-E6F8-761A-A63E-C47130FF2C59}"/>
                    </a:ext>
                  </a:extLst>
                </p:cNvPr>
                <p:cNvSpPr txBox="1"/>
                <p:nvPr/>
              </p:nvSpPr>
              <p:spPr>
                <a:xfrm>
                  <a:off x="3215834" y="170390"/>
                  <a:ext cx="1803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9973784-E6F8-761A-A63E-C47130FF2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5834" y="170390"/>
                  <a:ext cx="180306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34483" r="-34483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FC89135-C22E-AE85-4F55-703961B435B3}"/>
                </a:ext>
              </a:extLst>
            </p:cNvPr>
            <p:cNvSpPr txBox="1"/>
            <p:nvPr/>
          </p:nvSpPr>
          <p:spPr>
            <a:xfrm>
              <a:off x="7190588" y="4352926"/>
              <a:ext cx="100990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b="0" dirty="0"/>
                <a:t>z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51865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932FB-363E-44EF-82A1-967F08745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c 4">
            <a:extLst>
              <a:ext uri="{FF2B5EF4-FFF2-40B4-BE49-F238E27FC236}">
                <a16:creationId xmlns:a16="http://schemas.microsoft.com/office/drawing/2014/main" id="{CDE1218F-3950-265A-BF20-89D42FBC6327}"/>
              </a:ext>
            </a:extLst>
          </p:cNvPr>
          <p:cNvSpPr/>
          <p:nvPr/>
        </p:nvSpPr>
        <p:spPr>
          <a:xfrm>
            <a:off x="-384048" y="2903633"/>
            <a:ext cx="7043597" cy="7043598"/>
          </a:xfrm>
          <a:prstGeom prst="arc">
            <a:avLst>
              <a:gd name="adj1" fmla="val 19140031"/>
              <a:gd name="adj2" fmla="val 20952757"/>
            </a:avLst>
          </a:prstGeom>
          <a:ln>
            <a:solidFill>
              <a:schemeClr val="tx1"/>
            </a:solidFill>
            <a:headEnd type="triangle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81F6D33D-2973-E5F3-F206-B81F712CCB37}"/>
              </a:ext>
            </a:extLst>
          </p:cNvPr>
          <p:cNvSpPr/>
          <p:nvPr/>
        </p:nvSpPr>
        <p:spPr>
          <a:xfrm>
            <a:off x="115172" y="4985892"/>
            <a:ext cx="6039420" cy="2879071"/>
          </a:xfrm>
          <a:prstGeom prst="arc">
            <a:avLst>
              <a:gd name="adj1" fmla="val 20099205"/>
              <a:gd name="adj2" fmla="val 20930158"/>
            </a:avLst>
          </a:prstGeom>
          <a:ln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C14E8777-0041-A291-EDBC-B388CDA461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8783259" y="882083"/>
            <a:ext cx="707248" cy="707248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D87A79-150B-AEA0-CBFE-91EF49B645F8}"/>
              </a:ext>
            </a:extLst>
          </p:cNvPr>
          <p:cNvCxnSpPr>
            <a:cxnSpLocks/>
          </p:cNvCxnSpPr>
          <p:nvPr/>
        </p:nvCxnSpPr>
        <p:spPr>
          <a:xfrm flipV="1">
            <a:off x="3140767" y="5263574"/>
            <a:ext cx="5864396" cy="116185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3CE4F4-20D6-8942-6F39-DFD676383CDB}"/>
              </a:ext>
            </a:extLst>
          </p:cNvPr>
          <p:cNvCxnSpPr>
            <a:cxnSpLocks/>
          </p:cNvCxnSpPr>
          <p:nvPr/>
        </p:nvCxnSpPr>
        <p:spPr>
          <a:xfrm flipV="1">
            <a:off x="9005161" y="1238643"/>
            <a:ext cx="0" cy="402493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D198DF-01A7-F698-4840-D7D746FB55D3}"/>
              </a:ext>
            </a:extLst>
          </p:cNvPr>
          <p:cNvCxnSpPr>
            <a:cxnSpLocks/>
          </p:cNvCxnSpPr>
          <p:nvPr/>
        </p:nvCxnSpPr>
        <p:spPr>
          <a:xfrm flipV="1">
            <a:off x="3140765" y="1238643"/>
            <a:ext cx="5867411" cy="5186782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B7EE91-CCD2-5470-D396-3EE7164B85F8}"/>
              </a:ext>
            </a:extLst>
          </p:cNvPr>
          <p:cNvCxnSpPr>
            <a:cxnSpLocks/>
          </p:cNvCxnSpPr>
          <p:nvPr/>
        </p:nvCxnSpPr>
        <p:spPr>
          <a:xfrm flipH="1">
            <a:off x="5535795" y="5273749"/>
            <a:ext cx="347462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841F6DE-D1A1-11D8-07A3-32536AB059C9}"/>
              </a:ext>
            </a:extLst>
          </p:cNvPr>
          <p:cNvCxnSpPr>
            <a:cxnSpLocks/>
          </p:cNvCxnSpPr>
          <p:nvPr/>
        </p:nvCxnSpPr>
        <p:spPr>
          <a:xfrm flipV="1">
            <a:off x="6571988" y="5263572"/>
            <a:ext cx="2433173" cy="115857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699543-203F-F747-FF43-213798B0F0DE}"/>
                  </a:ext>
                </a:extLst>
              </p:cNvPr>
              <p:cNvSpPr txBox="1"/>
              <p:nvPr/>
            </p:nvSpPr>
            <p:spPr>
              <a:xfrm>
                <a:off x="9097477" y="629423"/>
                <a:ext cx="26077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699543-203F-F747-FF43-213798B0F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7477" y="629423"/>
                <a:ext cx="260777" cy="369332"/>
              </a:xfrm>
              <a:prstGeom prst="rect">
                <a:avLst/>
              </a:prstGeom>
              <a:blipFill>
                <a:blip r:embed="rId3"/>
                <a:stretch>
                  <a:fillRect l="-27907" r="-2558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399C57D-874D-B0FB-C207-6E9EB94C84C4}"/>
                  </a:ext>
                </a:extLst>
              </p:cNvPr>
              <p:cNvSpPr txBox="1"/>
              <p:nvPr/>
            </p:nvSpPr>
            <p:spPr>
              <a:xfrm>
                <a:off x="7637518" y="4869288"/>
                <a:ext cx="34503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399C57D-874D-B0FB-C207-6E9EB94C8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518" y="4869288"/>
                <a:ext cx="345031" cy="369332"/>
              </a:xfrm>
              <a:prstGeom prst="rect">
                <a:avLst/>
              </a:prstGeom>
              <a:blipFill>
                <a:blip r:embed="rId4"/>
                <a:stretch>
                  <a:fillRect l="-23214" r="-1786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9E0834F-721B-16F3-E15F-E3E82D16812A}"/>
                  </a:ext>
                </a:extLst>
              </p:cNvPr>
              <p:cNvSpPr txBox="1"/>
              <p:nvPr/>
            </p:nvSpPr>
            <p:spPr>
              <a:xfrm>
                <a:off x="9032708" y="3150979"/>
                <a:ext cx="354071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9E0834F-721B-16F3-E15F-E3E82D168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708" y="3150979"/>
                <a:ext cx="354071" cy="398507"/>
              </a:xfrm>
              <a:prstGeom prst="rect">
                <a:avLst/>
              </a:prstGeom>
              <a:blipFill>
                <a:blip r:embed="rId5"/>
                <a:stretch>
                  <a:fillRect l="-22414" r="-6897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DC20AD0-4935-43F1-C8F1-8138649381D0}"/>
                  </a:ext>
                </a:extLst>
              </p:cNvPr>
              <p:cNvSpPr txBox="1"/>
              <p:nvPr/>
            </p:nvSpPr>
            <p:spPr>
              <a:xfrm>
                <a:off x="8114522" y="5664723"/>
                <a:ext cx="3295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DC20AD0-4935-43F1-C8F1-813864938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4522" y="5664723"/>
                <a:ext cx="329513" cy="369332"/>
              </a:xfrm>
              <a:prstGeom prst="rect">
                <a:avLst/>
              </a:prstGeom>
              <a:blipFill>
                <a:blip r:embed="rId6"/>
                <a:stretch>
                  <a:fillRect l="-22222" r="-3704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B2017A2-D882-93A9-133D-8AFA9918DD34}"/>
                  </a:ext>
                </a:extLst>
              </p:cNvPr>
              <p:cNvSpPr txBox="1"/>
              <p:nvPr/>
            </p:nvSpPr>
            <p:spPr>
              <a:xfrm>
                <a:off x="6096000" y="4210681"/>
                <a:ext cx="2446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B2017A2-D882-93A9-133D-8AFA9918D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210681"/>
                <a:ext cx="244682" cy="369332"/>
              </a:xfrm>
              <a:prstGeom prst="rect">
                <a:avLst/>
              </a:prstGeom>
              <a:blipFill>
                <a:blip r:embed="rId7"/>
                <a:stretch>
                  <a:fillRect l="-30000" r="-25000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97FEC20-888A-7536-8C3E-C2C6ED120EE6}"/>
                  </a:ext>
                </a:extLst>
              </p:cNvPr>
              <p:cNvSpPr txBox="1"/>
              <p:nvPr/>
            </p:nvSpPr>
            <p:spPr>
              <a:xfrm>
                <a:off x="5175072" y="5480057"/>
                <a:ext cx="30296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</m:oMath>
                  </m:oMathPara>
                </a14:m>
                <a:endParaRPr lang="en-US" sz="2400" b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97FEC20-888A-7536-8C3E-C2C6ED120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5072" y="5480057"/>
                <a:ext cx="302967" cy="369332"/>
              </a:xfrm>
              <a:prstGeom prst="rect">
                <a:avLst/>
              </a:prstGeom>
              <a:blipFill>
                <a:blip r:embed="rId8"/>
                <a:stretch>
                  <a:fillRect l="-26000" r="-22000" b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23F5B0F-A0CE-F175-BF41-04FAE495DF76}"/>
                  </a:ext>
                </a:extLst>
              </p:cNvPr>
              <p:cNvSpPr txBox="1"/>
              <p:nvPr/>
            </p:nvSpPr>
            <p:spPr>
              <a:xfrm>
                <a:off x="6709741" y="2655430"/>
                <a:ext cx="2501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23F5B0F-A0CE-F175-BF41-04FAE495D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741" y="2655430"/>
                <a:ext cx="250197" cy="369332"/>
              </a:xfrm>
              <a:prstGeom prst="rect">
                <a:avLst/>
              </a:prstGeom>
              <a:blipFill>
                <a:blip r:embed="rId9"/>
                <a:stretch>
                  <a:fillRect l="-31707" r="-26829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39DDB3-8C99-FE4C-88A3-4CA1FAB90B75}"/>
                  </a:ext>
                </a:extLst>
              </p:cNvPr>
              <p:cNvSpPr txBox="1"/>
              <p:nvPr/>
            </p:nvSpPr>
            <p:spPr>
              <a:xfrm>
                <a:off x="5326556" y="5976025"/>
                <a:ext cx="5098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𝑥𝑧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39DDB3-8C99-FE4C-88A3-4CA1FAB90B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6556" y="5976025"/>
                <a:ext cx="509819" cy="369332"/>
              </a:xfrm>
              <a:prstGeom prst="rect">
                <a:avLst/>
              </a:prstGeom>
              <a:blipFill>
                <a:blip r:embed="rId10"/>
                <a:stretch>
                  <a:fillRect l="-15663" r="-2410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833C577-3F53-E4EF-AD34-8B405E2ADFB2}"/>
              </a:ext>
            </a:extLst>
          </p:cNvPr>
          <p:cNvCxnSpPr>
            <a:cxnSpLocks/>
          </p:cNvCxnSpPr>
          <p:nvPr/>
        </p:nvCxnSpPr>
        <p:spPr>
          <a:xfrm>
            <a:off x="3140767" y="395757"/>
            <a:ext cx="0" cy="6023267"/>
          </a:xfrm>
          <a:prstGeom prst="line">
            <a:avLst/>
          </a:prstGeom>
          <a:ln w="2540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8B7CA0B-86DE-ECD0-E873-907D07B2201A}"/>
              </a:ext>
            </a:extLst>
          </p:cNvPr>
          <p:cNvCxnSpPr>
            <a:cxnSpLocks/>
          </p:cNvCxnSpPr>
          <p:nvPr/>
        </p:nvCxnSpPr>
        <p:spPr>
          <a:xfrm>
            <a:off x="3140765" y="6425427"/>
            <a:ext cx="6972499" cy="0"/>
          </a:xfrm>
          <a:prstGeom prst="line">
            <a:avLst/>
          </a:prstGeom>
          <a:ln w="254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4329C7-8641-3181-4650-8C3B8F70F5AA}"/>
              </a:ext>
            </a:extLst>
          </p:cNvPr>
          <p:cNvCxnSpPr>
            <a:cxnSpLocks/>
          </p:cNvCxnSpPr>
          <p:nvPr/>
        </p:nvCxnSpPr>
        <p:spPr>
          <a:xfrm flipV="1">
            <a:off x="3140763" y="4512064"/>
            <a:ext cx="4004891" cy="1906960"/>
          </a:xfrm>
          <a:prstGeom prst="line">
            <a:avLst/>
          </a:prstGeom>
          <a:ln w="254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397CDC-EADF-9A26-B91B-C05388F27425}"/>
                  </a:ext>
                </a:extLst>
              </p:cNvPr>
              <p:cNvSpPr txBox="1"/>
              <p:nvPr/>
            </p:nvSpPr>
            <p:spPr>
              <a:xfrm>
                <a:off x="10095906" y="6142025"/>
                <a:ext cx="1769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397CDC-EADF-9A26-B91B-C05388F27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5906" y="6142025"/>
                <a:ext cx="176908" cy="276999"/>
              </a:xfrm>
              <a:prstGeom prst="rect">
                <a:avLst/>
              </a:prstGeom>
              <a:blipFill>
                <a:blip r:embed="rId11"/>
                <a:stretch>
                  <a:fillRect l="-20690" r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795618-B0B9-9006-E994-AB2E8ED61237}"/>
                  </a:ext>
                </a:extLst>
              </p:cNvPr>
              <p:cNvSpPr txBox="1"/>
              <p:nvPr/>
            </p:nvSpPr>
            <p:spPr>
              <a:xfrm>
                <a:off x="3215834" y="170390"/>
                <a:ext cx="1803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795618-B0B9-9006-E994-AB2E8ED61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834" y="170390"/>
                <a:ext cx="180306" cy="276999"/>
              </a:xfrm>
              <a:prstGeom prst="rect">
                <a:avLst/>
              </a:prstGeom>
              <a:blipFill>
                <a:blip r:embed="rId12"/>
                <a:stretch>
                  <a:fillRect l="-34483" r="-3448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59263677-521A-59AE-06BB-998392D6EE92}"/>
              </a:ext>
            </a:extLst>
          </p:cNvPr>
          <p:cNvSpPr txBox="1"/>
          <p:nvPr/>
        </p:nvSpPr>
        <p:spPr>
          <a:xfrm>
            <a:off x="7190588" y="4352926"/>
            <a:ext cx="10099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0" dirty="0"/>
              <a:t>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41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</TotalTime>
  <Words>229</Words>
  <Application>Microsoft Office PowerPoint</Application>
  <PresentationFormat>Widescreen</PresentationFormat>
  <Paragraphs>68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In Defense of Euler Angles in Game Programming</vt:lpstr>
      <vt:lpstr>Gimbal Lock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Whiting</dc:creator>
  <cp:lastModifiedBy>Matt Whiting</cp:lastModifiedBy>
  <cp:revision>10</cp:revision>
  <dcterms:created xsi:type="dcterms:W3CDTF">2026-05-14T21:18:47Z</dcterms:created>
  <dcterms:modified xsi:type="dcterms:W3CDTF">2026-07-07T21:12:24Z</dcterms:modified>
</cp:coreProperties>
</file>